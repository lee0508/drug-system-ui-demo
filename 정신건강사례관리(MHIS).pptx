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4660"/>
  </p:normalViewPr>
  <p:slideViewPr>
    <p:cSldViewPr snapToObjects="1">
      <p:cViewPr varScale="1">
        <p:scale>
          <a:sx n="66" d="100"/>
          <a:sy n="66" d="100"/>
        </p:scale>
        <p:origin x="13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44488" y="6499665"/>
            <a:ext cx="3127251" cy="2687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913313" y="2528888"/>
            <a:ext cx="4648200" cy="0"/>
          </a:xfrm>
          <a:prstGeom prst="line">
            <a:avLst/>
          </a:prstGeom>
          <a:noFill/>
          <a:ln w="31750">
            <a:solidFill>
              <a:srgbClr val="C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defRPr/>
            </a:pPr>
            <a:endParaRPr kumimoji="1" lang="ko-KR" altLang="en-US" sz="11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128215" y="1196752"/>
            <a:ext cx="4176713" cy="647700"/>
          </a:xfrm>
          <a:prstGeom prst="rect">
            <a:avLst/>
          </a:prstGeom>
        </p:spPr>
        <p:txBody>
          <a:bodyPr lIns="72000" tIns="36000" rIns="72000" bIns="36000" anchor="ctr" anchorCtr="0"/>
          <a:lstStyle>
            <a:lvl1pPr algn="r">
              <a:defRPr sz="1600" b="0" i="1"/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5008" y="1988840"/>
            <a:ext cx="4176713" cy="501912"/>
          </a:xfrm>
          <a:prstGeom prst="rect">
            <a:avLst/>
          </a:prstGeom>
        </p:spPr>
        <p:txBody>
          <a:bodyPr lIns="72000" tIns="36000" rIns="72000" bIns="36000" anchor="ctr" anchorCtr="0"/>
          <a:lstStyle>
            <a:lvl1pPr algn="l">
              <a:defRPr sz="2400" b="1" i="0"/>
            </a:lvl1pPr>
          </a:lstStyle>
          <a:p>
            <a:pPr lvl="0"/>
            <a:r>
              <a:rPr lang="ko-KR" altLang="en-US" smtClean="0"/>
              <a:t>텍스트 입력</a:t>
            </a:r>
            <a:endParaRPr lang="ko-KR" altLang="en-US" dirty="0" smtClean="0"/>
          </a:p>
        </p:txBody>
      </p:sp>
      <p:sp>
        <p:nvSpPr>
          <p:cNvPr id="8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241032" y="2708920"/>
            <a:ext cx="4464496" cy="2952328"/>
          </a:xfrm>
          <a:prstGeom prst="rect">
            <a:avLst/>
          </a:prstGeom>
        </p:spPr>
        <p:txBody>
          <a:bodyPr lIns="72000" tIns="36000" rIns="72000" bIns="36000" anchor="t" anchorCtr="0"/>
          <a:lstStyle>
            <a:lvl1pPr algn="l">
              <a:lnSpc>
                <a:spcPct val="150000"/>
              </a:lnSpc>
              <a:defRPr sz="1400" b="0" i="0"/>
            </a:lvl1pPr>
          </a:lstStyle>
          <a:p>
            <a:pPr lvl="0"/>
            <a:r>
              <a:rPr lang="ko-KR" altLang="en-US" smtClean="0"/>
              <a:t>텍스트 입력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378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44488" y="6499665"/>
            <a:ext cx="3127251" cy="2687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5504934" y="1"/>
            <a:ext cx="4368793" cy="544473"/>
          </a:xfrm>
          <a:prstGeom prst="rect">
            <a:avLst/>
          </a:prstGeom>
        </p:spPr>
        <p:txBody>
          <a:bodyPr anchor="ctr"/>
          <a:lstStyle>
            <a:lvl1pPr marL="0" indent="0" algn="r">
              <a:tabLst>
                <a:tab pos="0" algn="l"/>
              </a:tabLst>
              <a:defRPr sz="1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HY헤드라인M" pitchFamily="18" charset="-127"/>
                <a:ea typeface="HY헤드라인M" pitchFamily="18" charset="-127"/>
              </a:defRPr>
            </a:lvl2pPr>
            <a:lvl3pPr>
              <a:defRPr>
                <a:latin typeface="HY헤드라인M" pitchFamily="18" charset="-127"/>
                <a:ea typeface="HY헤드라인M" pitchFamily="18" charset="-127"/>
              </a:defRPr>
            </a:lvl3pPr>
            <a:lvl4pPr>
              <a:defRPr>
                <a:latin typeface="HY헤드라인M" pitchFamily="18" charset="-127"/>
                <a:ea typeface="HY헤드라인M" pitchFamily="18" charset="-127"/>
              </a:defRPr>
            </a:lvl4pPr>
            <a:lvl5pPr>
              <a:defRPr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191776" y="1608249"/>
            <a:ext cx="4680558" cy="46290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 dirty="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>
            <a:off x="388035" y="1502540"/>
            <a:ext cx="4326362" cy="36405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2B2B2">
                  <a:alpha val="99001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3C622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2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>
            <a:off x="424407" y="1519267"/>
            <a:ext cx="4253618" cy="32961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None/>
            </a:pPr>
            <a:endParaRPr kumimoji="1" lang="en-US" altLang="ko-KR" sz="12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" name="AutoShape 4"/>
          <p:cNvSpPr>
            <a:spLocks noChangeArrowheads="1"/>
          </p:cNvSpPr>
          <p:nvPr userDrawn="1"/>
        </p:nvSpPr>
        <p:spPr bwMode="auto">
          <a:xfrm>
            <a:off x="5045529" y="1608249"/>
            <a:ext cx="4660446" cy="46290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 dirty="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1" name="Group 9"/>
          <p:cNvGrpSpPr>
            <a:grpSpLocks/>
          </p:cNvGrpSpPr>
          <p:nvPr userDrawn="1"/>
        </p:nvGrpSpPr>
        <p:grpSpPr bwMode="auto">
          <a:xfrm>
            <a:off x="5206418" y="1502540"/>
            <a:ext cx="4326362" cy="364053"/>
            <a:chOff x="3189" y="1061"/>
            <a:chExt cx="2260" cy="370"/>
          </a:xfrm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>
              <a:off x="3189" y="1061"/>
              <a:ext cx="2260" cy="37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B2B2B2">
                    <a:alpha val="99001"/>
                  </a:srgb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3C622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30000"/>
                </a:spcBef>
                <a:spcAft>
                  <a:spcPct val="0"/>
                </a:spcAft>
                <a:buSzPct val="120000"/>
                <a:buFont typeface="Wingdings" pitchFamily="2" charset="2"/>
                <a:buChar char="§"/>
              </a:pPr>
              <a:endParaRPr kumimoji="1" lang="ko-KR" altLang="en-US" sz="12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3208" y="1078"/>
              <a:ext cx="2222" cy="335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30000"/>
                </a:spcBef>
                <a:spcAft>
                  <a:spcPct val="0"/>
                </a:spcAft>
                <a:buSzPct val="120000"/>
                <a:buFont typeface="Wingdings" pitchFamily="2" charset="2"/>
                <a:buNone/>
              </a:pPr>
              <a:endParaRPr kumimoji="1" lang="en-US" altLang="ko-KR" sz="1200" b="1" dirty="0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5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4408" y="1539897"/>
            <a:ext cx="4253618" cy="288355"/>
          </a:xfrm>
          <a:prstGeom prst="rect">
            <a:avLst/>
          </a:prstGeom>
        </p:spPr>
        <p:txBody>
          <a:bodyPr rIns="72000"/>
          <a:lstStyle>
            <a:lvl1pPr algn="ctr">
              <a:defRPr sz="13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5231904" y="1541934"/>
            <a:ext cx="4253618" cy="288355"/>
          </a:xfrm>
          <a:prstGeom prst="rect">
            <a:avLst/>
          </a:prstGeom>
        </p:spPr>
        <p:txBody>
          <a:bodyPr rIns="72000"/>
          <a:lstStyle>
            <a:lvl1pPr algn="ctr">
              <a:defRPr sz="13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7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1775" y="692149"/>
            <a:ext cx="9514199" cy="653723"/>
          </a:xfrm>
          <a:prstGeom prst="rect">
            <a:avLst/>
          </a:prstGeom>
        </p:spPr>
        <p:txBody>
          <a:bodyPr rIns="72000"/>
          <a:lstStyle>
            <a:lvl1pPr algn="l">
              <a:lnSpc>
                <a:spcPct val="120000"/>
              </a:lnSpc>
              <a:defRPr sz="14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832678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294967295" orient="horz" pos="2160">
          <p15:clr>
            <a:srgbClr val="FBAE40"/>
          </p15:clr>
        </p15:guide>
        <p15:guide id="4294967295" pos="3120">
          <p15:clr>
            <a:srgbClr val="FBAE40"/>
          </p15:clr>
        </p15:guide>
        <p15:guide id="4294967295" orient="horz" pos="935">
          <p15:clr>
            <a:srgbClr val="FBAE40"/>
          </p15:clr>
        </p15:guide>
        <p15:guide id="4294967295" orient="horz" pos="392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44488" y="6499665"/>
            <a:ext cx="3127251" cy="2687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191775" y="1484784"/>
            <a:ext cx="9514198" cy="4752503"/>
            <a:chOff x="286821" y="1711327"/>
            <a:chExt cx="6005959" cy="4752503"/>
          </a:xfrm>
        </p:grpSpPr>
        <p:sp>
          <p:nvSpPr>
            <p:cNvPr id="17" name="AutoShape 4"/>
            <p:cNvSpPr>
              <a:spLocks noChangeArrowheads="1"/>
            </p:cNvSpPr>
            <p:nvPr userDrawn="1"/>
          </p:nvSpPr>
          <p:spPr bwMode="auto">
            <a:xfrm>
              <a:off x="286821" y="1817035"/>
              <a:ext cx="6005959" cy="4646795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30000"/>
                </a:spcBef>
                <a:spcAft>
                  <a:spcPct val="0"/>
                </a:spcAft>
                <a:buSzPct val="120000"/>
                <a:buFont typeface="Wingdings" pitchFamily="2" charset="2"/>
                <a:buChar char="§"/>
              </a:pPr>
              <a:endParaRPr kumimoji="1" lang="ko-KR" altLang="en-US" sz="1100" dirty="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9" name="AutoShape 10"/>
            <p:cNvSpPr>
              <a:spLocks noChangeArrowheads="1"/>
            </p:cNvSpPr>
            <p:nvPr/>
          </p:nvSpPr>
          <p:spPr bwMode="auto">
            <a:xfrm>
              <a:off x="454671" y="1711327"/>
              <a:ext cx="5663786" cy="364053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B2B2B2">
                    <a:alpha val="99001"/>
                  </a:srgb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3C622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30000"/>
                </a:spcBef>
                <a:spcAft>
                  <a:spcPct val="0"/>
                </a:spcAft>
                <a:buSzPct val="120000"/>
                <a:buFont typeface="Wingdings" pitchFamily="2" charset="2"/>
                <a:buChar char="§"/>
              </a:pPr>
              <a:endParaRPr kumimoji="1" lang="ko-KR" altLang="en-US" sz="12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20" name="AutoShape 11"/>
            <p:cNvSpPr>
              <a:spLocks noChangeArrowheads="1"/>
            </p:cNvSpPr>
            <p:nvPr/>
          </p:nvSpPr>
          <p:spPr bwMode="auto">
            <a:xfrm>
              <a:off x="502289" y="1728054"/>
              <a:ext cx="5568554" cy="32961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30000"/>
                </a:spcBef>
                <a:spcAft>
                  <a:spcPct val="0"/>
                </a:spcAft>
                <a:buSzPct val="120000"/>
                <a:buFont typeface="Wingdings" pitchFamily="2" charset="2"/>
                <a:buNone/>
              </a:pPr>
              <a:endParaRPr kumimoji="1" lang="en-US" altLang="ko-KR" sz="1200" b="1" dirty="0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9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532216" y="1514263"/>
            <a:ext cx="8821293" cy="288355"/>
          </a:xfrm>
          <a:prstGeom prst="rect">
            <a:avLst/>
          </a:prstGeom>
        </p:spPr>
        <p:txBody>
          <a:bodyPr rIns="72000"/>
          <a:lstStyle>
            <a:lvl1pPr algn="ctr">
              <a:defRPr sz="13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31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5504934" y="1"/>
            <a:ext cx="4368793" cy="544473"/>
          </a:xfrm>
          <a:prstGeom prst="rect">
            <a:avLst/>
          </a:prstGeom>
        </p:spPr>
        <p:txBody>
          <a:bodyPr anchor="ctr"/>
          <a:lstStyle>
            <a:lvl1pPr marL="0" indent="0" algn="r">
              <a:tabLst>
                <a:tab pos="0" algn="l"/>
              </a:tabLst>
              <a:defRPr sz="1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HY헤드라인M" pitchFamily="18" charset="-127"/>
                <a:ea typeface="HY헤드라인M" pitchFamily="18" charset="-127"/>
              </a:defRPr>
            </a:lvl2pPr>
            <a:lvl3pPr>
              <a:defRPr>
                <a:latin typeface="HY헤드라인M" pitchFamily="18" charset="-127"/>
                <a:ea typeface="HY헤드라인M" pitchFamily="18" charset="-127"/>
              </a:defRPr>
            </a:lvl3pPr>
            <a:lvl4pPr>
              <a:defRPr>
                <a:latin typeface="HY헤드라인M" pitchFamily="18" charset="-127"/>
                <a:ea typeface="HY헤드라인M" pitchFamily="18" charset="-127"/>
              </a:defRPr>
            </a:lvl4pPr>
            <a:lvl5pPr>
              <a:defRPr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8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1775" y="692150"/>
            <a:ext cx="9514199" cy="649288"/>
          </a:xfrm>
          <a:prstGeom prst="rect">
            <a:avLst/>
          </a:prstGeom>
        </p:spPr>
        <p:txBody>
          <a:bodyPr rIns="72000"/>
          <a:lstStyle>
            <a:lvl1pPr algn="l">
              <a:lnSpc>
                <a:spcPct val="120000"/>
              </a:lnSpc>
              <a:defRPr sz="14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92424662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294967295" orient="horz" pos="2160">
          <p15:clr>
            <a:srgbClr val="FBAE40"/>
          </p15:clr>
        </p15:guide>
        <p15:guide id="4294967295" pos="3120">
          <p15:clr>
            <a:srgbClr val="FBAE40"/>
          </p15:clr>
        </p15:guide>
        <p15:guide id="4294967295" orient="horz" pos="935">
          <p15:clr>
            <a:srgbClr val="FBAE40"/>
          </p15:clr>
        </p15:guide>
        <p15:guide id="4294967295" orient="horz" pos="39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44488" y="6499665"/>
            <a:ext cx="3127251" cy="2687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191775" y="692696"/>
            <a:ext cx="9514198" cy="5544592"/>
            <a:chOff x="286821" y="1711327"/>
            <a:chExt cx="6005959" cy="5544592"/>
          </a:xfrm>
        </p:grpSpPr>
        <p:sp>
          <p:nvSpPr>
            <p:cNvPr id="17" name="AutoShape 4"/>
            <p:cNvSpPr>
              <a:spLocks noChangeArrowheads="1"/>
            </p:cNvSpPr>
            <p:nvPr userDrawn="1"/>
          </p:nvSpPr>
          <p:spPr bwMode="auto">
            <a:xfrm>
              <a:off x="286821" y="1817035"/>
              <a:ext cx="6005959" cy="5438884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30000"/>
                </a:spcBef>
                <a:spcAft>
                  <a:spcPct val="0"/>
                </a:spcAft>
                <a:buSzPct val="120000"/>
                <a:buFont typeface="Wingdings" pitchFamily="2" charset="2"/>
                <a:buChar char="§"/>
              </a:pPr>
              <a:endParaRPr kumimoji="1" lang="ko-KR" altLang="en-US" sz="1100" dirty="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9" name="AutoShape 10"/>
            <p:cNvSpPr>
              <a:spLocks noChangeArrowheads="1"/>
            </p:cNvSpPr>
            <p:nvPr/>
          </p:nvSpPr>
          <p:spPr bwMode="auto">
            <a:xfrm>
              <a:off x="454671" y="1711327"/>
              <a:ext cx="5663786" cy="364053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B2B2B2">
                    <a:alpha val="99001"/>
                  </a:srgb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3C622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30000"/>
                </a:spcBef>
                <a:spcAft>
                  <a:spcPct val="0"/>
                </a:spcAft>
                <a:buSzPct val="120000"/>
                <a:buFont typeface="Wingdings" pitchFamily="2" charset="2"/>
                <a:buChar char="§"/>
              </a:pPr>
              <a:endParaRPr kumimoji="1" lang="ko-KR" altLang="en-US" sz="12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20" name="AutoShape 11"/>
            <p:cNvSpPr>
              <a:spLocks noChangeArrowheads="1"/>
            </p:cNvSpPr>
            <p:nvPr/>
          </p:nvSpPr>
          <p:spPr bwMode="auto">
            <a:xfrm>
              <a:off x="502289" y="1728054"/>
              <a:ext cx="5568554" cy="32961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30000"/>
                </a:spcBef>
                <a:spcAft>
                  <a:spcPct val="0"/>
                </a:spcAft>
                <a:buSzPct val="120000"/>
                <a:buFont typeface="Wingdings" pitchFamily="2" charset="2"/>
                <a:buNone/>
              </a:pPr>
              <a:endParaRPr kumimoji="1" lang="en-US" altLang="ko-KR" sz="1200" b="1" dirty="0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9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532216" y="722175"/>
            <a:ext cx="8821293" cy="288355"/>
          </a:xfrm>
          <a:prstGeom prst="rect">
            <a:avLst/>
          </a:prstGeom>
        </p:spPr>
        <p:txBody>
          <a:bodyPr rIns="72000"/>
          <a:lstStyle>
            <a:lvl1pPr algn="ctr">
              <a:defRPr sz="13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31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5504934" y="1"/>
            <a:ext cx="4368793" cy="544473"/>
          </a:xfrm>
          <a:prstGeom prst="rect">
            <a:avLst/>
          </a:prstGeom>
        </p:spPr>
        <p:txBody>
          <a:bodyPr anchor="ctr"/>
          <a:lstStyle>
            <a:lvl1pPr marL="0" indent="0" algn="r">
              <a:tabLst>
                <a:tab pos="0" algn="l"/>
              </a:tabLst>
              <a:defRPr sz="1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HY헤드라인M" pitchFamily="18" charset="-127"/>
                <a:ea typeface="HY헤드라인M" pitchFamily="18" charset="-127"/>
              </a:defRPr>
            </a:lvl2pPr>
            <a:lvl3pPr>
              <a:defRPr>
                <a:latin typeface="HY헤드라인M" pitchFamily="18" charset="-127"/>
                <a:ea typeface="HY헤드라인M" pitchFamily="18" charset="-127"/>
              </a:defRPr>
            </a:lvl3pPr>
            <a:lvl4pPr>
              <a:defRPr>
                <a:latin typeface="HY헤드라인M" pitchFamily="18" charset="-127"/>
                <a:ea typeface="HY헤드라인M" pitchFamily="18" charset="-127"/>
              </a:defRPr>
            </a:lvl4pPr>
            <a:lvl5pPr>
              <a:defRPr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7288142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294967295" orient="horz" pos="2160">
          <p15:clr>
            <a:srgbClr val="FBAE40"/>
          </p15:clr>
        </p15:guide>
        <p15:guide id="4294967295" pos="3120">
          <p15:clr>
            <a:srgbClr val="FBAE40"/>
          </p15:clr>
        </p15:guide>
        <p15:guide id="4294967295" orient="horz" pos="935">
          <p15:clr>
            <a:srgbClr val="FBAE40"/>
          </p15:clr>
        </p15:guide>
        <p15:guide id="4294967295" orient="horz" pos="392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44488" y="6499665"/>
            <a:ext cx="3127251" cy="2687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1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5504934" y="1"/>
            <a:ext cx="4368793" cy="544473"/>
          </a:xfrm>
          <a:prstGeom prst="rect">
            <a:avLst/>
          </a:prstGeom>
        </p:spPr>
        <p:txBody>
          <a:bodyPr anchor="ctr"/>
          <a:lstStyle>
            <a:lvl1pPr marL="0" indent="0" algn="r">
              <a:tabLst>
                <a:tab pos="0" algn="l"/>
              </a:tabLst>
              <a:defRPr sz="1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HY헤드라인M" pitchFamily="18" charset="-127"/>
                <a:ea typeface="HY헤드라인M" pitchFamily="18" charset="-127"/>
              </a:defRPr>
            </a:lvl2pPr>
            <a:lvl3pPr>
              <a:defRPr>
                <a:latin typeface="HY헤드라인M" pitchFamily="18" charset="-127"/>
                <a:ea typeface="HY헤드라인M" pitchFamily="18" charset="-127"/>
              </a:defRPr>
            </a:lvl3pPr>
            <a:lvl4pPr>
              <a:defRPr>
                <a:latin typeface="HY헤드라인M" pitchFamily="18" charset="-127"/>
                <a:ea typeface="HY헤드라인M" pitchFamily="18" charset="-127"/>
              </a:defRPr>
            </a:lvl4pPr>
            <a:lvl5pPr>
              <a:defRPr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3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1775" y="692150"/>
            <a:ext cx="9514199" cy="649288"/>
          </a:xfrm>
          <a:prstGeom prst="rect">
            <a:avLst/>
          </a:prstGeom>
        </p:spPr>
        <p:txBody>
          <a:bodyPr rIns="72000"/>
          <a:lstStyle>
            <a:lvl1pPr algn="l">
              <a:lnSpc>
                <a:spcPct val="120000"/>
              </a:lnSpc>
              <a:defRPr sz="14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en-US" altLang="ko-KR" dirty="0" smtClean="0"/>
          </a:p>
        </p:txBody>
      </p:sp>
      <p:sp>
        <p:nvSpPr>
          <p:cNvPr id="7" name="AutoShape 4"/>
          <p:cNvSpPr>
            <a:spLocks noChangeArrowheads="1"/>
          </p:cNvSpPr>
          <p:nvPr userDrawn="1"/>
        </p:nvSpPr>
        <p:spPr bwMode="auto">
          <a:xfrm>
            <a:off x="191775" y="1489076"/>
            <a:ext cx="9514199" cy="474821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 dirty="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7626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294967295" orient="horz" pos="2160">
          <p15:clr>
            <a:srgbClr val="FBAE40"/>
          </p15:clr>
        </p15:guide>
        <p15:guide id="4294967295" pos="3120">
          <p15:clr>
            <a:srgbClr val="FBAE40"/>
          </p15:clr>
        </p15:guide>
        <p15:guide id="4294967295" orient="horz" pos="935">
          <p15:clr>
            <a:srgbClr val="FBAE40"/>
          </p15:clr>
        </p15:guide>
        <p15:guide id="4294967295" orient="horz" pos="392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직사각형 14"/>
          <p:cNvSpPr>
            <a:spLocks noChangeArrowheads="1"/>
          </p:cNvSpPr>
          <p:nvPr/>
        </p:nvSpPr>
        <p:spPr bwMode="auto">
          <a:xfrm>
            <a:off x="0" y="-1"/>
            <a:ext cx="9906000" cy="544513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88900" indent="-88900"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</a:pPr>
            <a:endParaRPr kumimoji="1" lang="ko-KR" altLang="en-US" sz="11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027" name="직선 화살표 연결선 20"/>
          <p:cNvCxnSpPr>
            <a:cxnSpLocks noChangeShapeType="1"/>
          </p:cNvCxnSpPr>
          <p:nvPr/>
        </p:nvCxnSpPr>
        <p:spPr bwMode="auto">
          <a:xfrm>
            <a:off x="0" y="544513"/>
            <a:ext cx="9906000" cy="1587"/>
          </a:xfrm>
          <a:prstGeom prst="straightConnector1">
            <a:avLst/>
          </a:prstGeom>
          <a:noFill/>
          <a:ln w="95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1516" y="0"/>
            <a:ext cx="8129588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000" tIns="36000" rIns="7200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  <a:endParaRPr lang="en-US" altLang="ko-KR" dirty="0" smtClean="0"/>
          </a:p>
        </p:txBody>
      </p:sp>
      <p:sp>
        <p:nvSpPr>
          <p:cNvPr id="1029" name="Text Box 11"/>
          <p:cNvSpPr txBox="1">
            <a:spLocks noChangeArrowheads="1"/>
          </p:cNvSpPr>
          <p:nvPr/>
        </p:nvSpPr>
        <p:spPr bwMode="auto">
          <a:xfrm>
            <a:off x="4606925" y="6586538"/>
            <a:ext cx="609600" cy="152400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 bIns="0" anchor="ctr">
            <a:spAutoFit/>
          </a:bodyPr>
          <a:lstStyle>
            <a:lvl1pPr eaLnBrk="0" hangingPunct="0"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SzPct val="120000"/>
              <a:buFont typeface="Wingdings" pitchFamily="2" charset="2"/>
              <a:buNone/>
              <a:defRPr/>
            </a:pPr>
            <a:fld id="{0067C470-EE9D-4FB8-9C10-19A6F00A5510}" type="slidenum">
              <a:rPr lang="en-US" altLang="ko-KR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SzPct val="120000"/>
                <a:buFont typeface="Wingdings" pitchFamily="2" charset="2"/>
                <a:buNone/>
                <a:defRPr/>
              </a:pPr>
              <a:t>‹#›</a:t>
            </a:fld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0" name="텍스트 개체 틀 8"/>
          <p:cNvSpPr txBox="1">
            <a:spLocks/>
          </p:cNvSpPr>
          <p:nvPr/>
        </p:nvSpPr>
        <p:spPr bwMode="auto">
          <a:xfrm>
            <a:off x="8166100" y="0"/>
            <a:ext cx="1739900" cy="544513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 marL="88900" indent="-88900" eaLnBrk="0" hangingPunct="0"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Char char="§"/>
              <a:tabLst>
                <a:tab pos="0" algn="l"/>
              </a:tabLst>
              <a:defRPr kumimoji="1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lang="ko-KR" altLang="en-US" sz="1200" smtClean="0"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033" name="직선 화살표 연결선 20"/>
          <p:cNvCxnSpPr>
            <a:cxnSpLocks noChangeShapeType="1"/>
          </p:cNvCxnSpPr>
          <p:nvPr/>
        </p:nvCxnSpPr>
        <p:spPr bwMode="auto">
          <a:xfrm>
            <a:off x="0" y="6405917"/>
            <a:ext cx="99060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392" y="6463671"/>
            <a:ext cx="1236873" cy="34026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87875" y="6462793"/>
            <a:ext cx="1520736" cy="35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4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iming>
    <p:tnLst>
      <p:par>
        <p:cTn id="1" dur="indefinite" restart="never" nodeType="tmRoot"/>
      </p:par>
    </p:tnLst>
  </p:timing>
  <p:txStyles>
    <p:titleStyle>
      <a:lvl1pPr algn="l" rtl="0" eaLnBrk="1" fontAlgn="ctr" latinLnBrk="1" hangingPunct="1">
        <a:spcBef>
          <a:spcPct val="0"/>
        </a:spcBef>
        <a:spcAft>
          <a:spcPct val="0"/>
        </a:spcAft>
        <a:defRPr kumimoji="1" sz="16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ctr" latinLnBrk="1" hangingPunct="1">
        <a:spcBef>
          <a:spcPct val="0"/>
        </a:spcBef>
        <a:spcAft>
          <a:spcPct val="0"/>
        </a:spcAft>
        <a:defRPr kumimoji="1" sz="1400">
          <a:solidFill>
            <a:srgbClr val="000000"/>
          </a:solidFill>
          <a:latin typeface="HY헤드라인M" pitchFamily="18" charset="-127"/>
          <a:ea typeface="HY헤드라인M" pitchFamily="18" charset="-127"/>
        </a:defRPr>
      </a:lvl2pPr>
      <a:lvl3pPr algn="l" rtl="0" eaLnBrk="1" fontAlgn="ctr" latinLnBrk="1" hangingPunct="1">
        <a:spcBef>
          <a:spcPct val="0"/>
        </a:spcBef>
        <a:spcAft>
          <a:spcPct val="0"/>
        </a:spcAft>
        <a:defRPr kumimoji="1" sz="1400">
          <a:solidFill>
            <a:srgbClr val="000000"/>
          </a:solidFill>
          <a:latin typeface="HY헤드라인M" pitchFamily="18" charset="-127"/>
          <a:ea typeface="HY헤드라인M" pitchFamily="18" charset="-127"/>
        </a:defRPr>
      </a:lvl3pPr>
      <a:lvl4pPr algn="l" rtl="0" eaLnBrk="1" fontAlgn="ctr" latinLnBrk="1" hangingPunct="1">
        <a:spcBef>
          <a:spcPct val="0"/>
        </a:spcBef>
        <a:spcAft>
          <a:spcPct val="0"/>
        </a:spcAft>
        <a:defRPr kumimoji="1" sz="1400">
          <a:solidFill>
            <a:srgbClr val="000000"/>
          </a:solidFill>
          <a:latin typeface="HY헤드라인M" pitchFamily="18" charset="-127"/>
          <a:ea typeface="HY헤드라인M" pitchFamily="18" charset="-127"/>
        </a:defRPr>
      </a:lvl4pPr>
      <a:lvl5pPr algn="l" rtl="0" eaLnBrk="1" fontAlgn="ctr" latinLnBrk="1" hangingPunct="1">
        <a:spcBef>
          <a:spcPct val="0"/>
        </a:spcBef>
        <a:spcAft>
          <a:spcPct val="0"/>
        </a:spcAft>
        <a:defRPr kumimoji="1" sz="1400">
          <a:solidFill>
            <a:srgbClr val="000000"/>
          </a:solidFill>
          <a:latin typeface="HY헤드라인M" pitchFamily="18" charset="-127"/>
          <a:ea typeface="HY헤드라인M" pitchFamily="18" charset="-127"/>
        </a:defRPr>
      </a:lvl5pPr>
      <a:lvl6pPr marL="457200" algn="l" rtl="0" eaLnBrk="1" fontAlgn="ctr" latinLnBrk="1" hangingPunct="1">
        <a:spcBef>
          <a:spcPct val="0"/>
        </a:spcBef>
        <a:spcAft>
          <a:spcPct val="0"/>
        </a:spcAft>
        <a:defRPr kumimoji="1" sz="1400">
          <a:solidFill>
            <a:srgbClr val="000000"/>
          </a:solidFill>
          <a:latin typeface="HY헤드라인M" pitchFamily="18" charset="-127"/>
          <a:ea typeface="HY헤드라인M" pitchFamily="18" charset="-127"/>
        </a:defRPr>
      </a:lvl6pPr>
      <a:lvl7pPr marL="914400" algn="l" rtl="0" eaLnBrk="1" fontAlgn="ctr" latinLnBrk="1" hangingPunct="1">
        <a:spcBef>
          <a:spcPct val="0"/>
        </a:spcBef>
        <a:spcAft>
          <a:spcPct val="0"/>
        </a:spcAft>
        <a:defRPr kumimoji="1" sz="1400">
          <a:solidFill>
            <a:srgbClr val="000000"/>
          </a:solidFill>
          <a:latin typeface="HY헤드라인M" pitchFamily="18" charset="-127"/>
          <a:ea typeface="HY헤드라인M" pitchFamily="18" charset="-127"/>
        </a:defRPr>
      </a:lvl7pPr>
      <a:lvl8pPr marL="1371600" algn="l" rtl="0" eaLnBrk="1" fontAlgn="ctr" latinLnBrk="1" hangingPunct="1">
        <a:spcBef>
          <a:spcPct val="0"/>
        </a:spcBef>
        <a:spcAft>
          <a:spcPct val="0"/>
        </a:spcAft>
        <a:defRPr kumimoji="1" sz="1400">
          <a:solidFill>
            <a:srgbClr val="000000"/>
          </a:solidFill>
          <a:latin typeface="HY헤드라인M" pitchFamily="18" charset="-127"/>
          <a:ea typeface="HY헤드라인M" pitchFamily="18" charset="-127"/>
        </a:defRPr>
      </a:lvl8pPr>
      <a:lvl9pPr marL="1828800" algn="l" rtl="0" eaLnBrk="1" fontAlgn="ctr" latinLnBrk="1" hangingPunct="1">
        <a:spcBef>
          <a:spcPct val="0"/>
        </a:spcBef>
        <a:spcAft>
          <a:spcPct val="0"/>
        </a:spcAft>
        <a:defRPr kumimoji="1" sz="1400">
          <a:solidFill>
            <a:srgbClr val="000000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0" indent="0" algn="r" rtl="0" eaLnBrk="1" fontAlgn="base" latinLnBrk="1" hangingPunct="1">
        <a:spcBef>
          <a:spcPct val="0"/>
        </a:spcBef>
        <a:spcAft>
          <a:spcPct val="0"/>
        </a:spcAft>
        <a:buFont typeface="Wingdings" pitchFamily="2" charset="2"/>
        <a:buNone/>
        <a:tabLst>
          <a:tab pos="0" algn="l"/>
        </a:tabLst>
        <a:defRPr kumimoji="1" sz="1200" b="1">
          <a:solidFill>
            <a:srgbClr val="000000"/>
          </a:solidFill>
          <a:latin typeface="+mn-lt"/>
          <a:ea typeface="+mn-ea"/>
          <a:cs typeface="+mn-cs"/>
        </a:defRPr>
      </a:lvl1pPr>
      <a:lvl2pPr marL="361950" indent="-193675" algn="just" rtl="0" eaLnBrk="1" fontAlgn="base" latinLnBrk="1" hangingPunct="1">
        <a:lnSpc>
          <a:spcPct val="120000"/>
        </a:lnSpc>
        <a:spcBef>
          <a:spcPct val="0"/>
        </a:spcBef>
        <a:spcAft>
          <a:spcPct val="0"/>
        </a:spcAft>
        <a:buFont typeface="Wingdings" pitchFamily="2" charset="2"/>
        <a:buChar char="l"/>
        <a:tabLst>
          <a:tab pos="361950" algn="l"/>
        </a:tabLst>
        <a:defRPr kumimoji="1" sz="1400">
          <a:solidFill>
            <a:srgbClr val="000000"/>
          </a:solidFill>
          <a:latin typeface="+mn-lt"/>
          <a:ea typeface="+mn-ea"/>
        </a:defRPr>
      </a:lvl2pPr>
      <a:lvl3pPr marL="542925" indent="-190500" algn="just" rtl="0" eaLnBrk="1" fontAlgn="base" latinLnBrk="1" hangingPunct="1">
        <a:lnSpc>
          <a:spcPct val="120000"/>
        </a:lnSpc>
        <a:spcBef>
          <a:spcPct val="0"/>
        </a:spcBef>
        <a:spcAft>
          <a:spcPct val="0"/>
        </a:spcAft>
        <a:buFont typeface="Wingdings" pitchFamily="2" charset="2"/>
        <a:buChar char="Ø"/>
        <a:tabLst>
          <a:tab pos="571500" algn="l"/>
        </a:tabLst>
        <a:defRPr kumimoji="1" sz="1200">
          <a:solidFill>
            <a:srgbClr val="000000"/>
          </a:solidFill>
          <a:latin typeface="+mn-lt"/>
          <a:ea typeface="+mn-ea"/>
        </a:defRPr>
      </a:lvl3pPr>
      <a:lvl4pPr marL="892175" indent="-177800" algn="l" rtl="0" eaLnBrk="1" fontAlgn="base" latinLnBrk="1" hangingPunct="1">
        <a:spcBef>
          <a:spcPct val="20000"/>
        </a:spcBef>
        <a:spcAft>
          <a:spcPct val="0"/>
        </a:spcAft>
        <a:buChar char="–"/>
        <a:tabLst>
          <a:tab pos="571500" algn="l"/>
        </a:tabLst>
        <a:defRPr kumimoji="1" sz="1200">
          <a:solidFill>
            <a:srgbClr val="000000"/>
          </a:solidFill>
          <a:latin typeface="굴림" pitchFamily="50" charset="-127"/>
          <a:ea typeface="굴림" pitchFamily="50" charset="-127"/>
        </a:defRPr>
      </a:lvl4pPr>
      <a:lvl5pPr marL="1073150" indent="-177800" algn="l" rtl="0" eaLnBrk="1" fontAlgn="base" latinLnBrk="1" hangingPunct="1">
        <a:spcBef>
          <a:spcPct val="20000"/>
        </a:spcBef>
        <a:spcAft>
          <a:spcPct val="0"/>
        </a:spcAft>
        <a:buChar char="»"/>
        <a:tabLst>
          <a:tab pos="571500" algn="l"/>
        </a:tabLst>
        <a:defRPr kumimoji="1" sz="1200">
          <a:solidFill>
            <a:srgbClr val="000000"/>
          </a:solidFill>
          <a:latin typeface="굴림" pitchFamily="50" charset="-127"/>
          <a:ea typeface="굴림" pitchFamily="50" charset="-127"/>
        </a:defRPr>
      </a:lvl5pPr>
      <a:lvl6pPr marL="2540000" indent="-209550" algn="l" rtl="0" eaLnBrk="1" fontAlgn="base" latinLnBrk="1" hangingPunct="1">
        <a:spcBef>
          <a:spcPct val="20000"/>
        </a:spcBef>
        <a:spcAft>
          <a:spcPct val="0"/>
        </a:spcAft>
        <a:tabLst>
          <a:tab pos="571500" algn="l"/>
        </a:tabLst>
        <a:defRPr kumimoji="1" sz="1200">
          <a:solidFill>
            <a:srgbClr val="000000"/>
          </a:solidFill>
          <a:latin typeface="굴림" pitchFamily="50" charset="-127"/>
          <a:ea typeface="굴림" pitchFamily="50" charset="-127"/>
        </a:defRPr>
      </a:lvl6pPr>
      <a:lvl7pPr marL="2997200" indent="-209550" algn="l" rtl="0" eaLnBrk="1" fontAlgn="base" latinLnBrk="1" hangingPunct="1">
        <a:spcBef>
          <a:spcPct val="20000"/>
        </a:spcBef>
        <a:spcAft>
          <a:spcPct val="0"/>
        </a:spcAft>
        <a:tabLst>
          <a:tab pos="571500" algn="l"/>
        </a:tabLst>
        <a:defRPr kumimoji="1" sz="1200">
          <a:solidFill>
            <a:srgbClr val="000000"/>
          </a:solidFill>
          <a:latin typeface="굴림" pitchFamily="50" charset="-127"/>
          <a:ea typeface="굴림" pitchFamily="50" charset="-127"/>
        </a:defRPr>
      </a:lvl7pPr>
      <a:lvl8pPr marL="3454400" indent="-209550" algn="l" rtl="0" eaLnBrk="1" fontAlgn="base" latinLnBrk="1" hangingPunct="1">
        <a:spcBef>
          <a:spcPct val="20000"/>
        </a:spcBef>
        <a:spcAft>
          <a:spcPct val="0"/>
        </a:spcAft>
        <a:tabLst>
          <a:tab pos="571500" algn="l"/>
        </a:tabLst>
        <a:defRPr kumimoji="1" sz="1200">
          <a:solidFill>
            <a:srgbClr val="000000"/>
          </a:solidFill>
          <a:latin typeface="굴림" pitchFamily="50" charset="-127"/>
          <a:ea typeface="굴림" pitchFamily="50" charset="-127"/>
        </a:defRPr>
      </a:lvl8pPr>
      <a:lvl9pPr marL="3911600" indent="-209550" algn="l" rtl="0" eaLnBrk="1" fontAlgn="base" latinLnBrk="1" hangingPunct="1">
        <a:spcBef>
          <a:spcPct val="20000"/>
        </a:spcBef>
        <a:spcAft>
          <a:spcPct val="0"/>
        </a:spcAft>
        <a:tabLst>
          <a:tab pos="571500" algn="l"/>
        </a:tabLst>
        <a:defRPr kumimoji="1" sz="1200">
          <a:solidFill>
            <a:srgbClr val="000000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dirty="0" smtClean="0"/>
              <a:t>현재 서울시 정신건강복지센터에서 운영중인 </a:t>
            </a:r>
            <a:r>
              <a:rPr lang="en-US" altLang="ko-KR" dirty="0" smtClean="0"/>
              <a:t>sMHIS</a:t>
            </a:r>
            <a:r>
              <a:rPr lang="ko-KR" altLang="en-US" dirty="0" smtClean="0"/>
              <a:t>를 기반으로 사례관리 표준 업무 흐름에 대한 시스템 기능을 향후 </a:t>
            </a:r>
            <a:r>
              <a:rPr lang="en-US" altLang="ko-KR" dirty="0" err="1" smtClean="0"/>
              <a:t>gMHIS</a:t>
            </a:r>
            <a:r>
              <a:rPr lang="ko-KR" altLang="en-US" dirty="0" smtClean="0"/>
              <a:t> 구축 후의 시스템 모델과 유사함을 전제로 분석합니다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sMHIS </a:t>
            </a:r>
            <a:r>
              <a:rPr lang="ko-KR" altLang="en-US" dirty="0" smtClean="0"/>
              <a:t>주요 업무 흐름 </a:t>
            </a:r>
            <a:endParaRPr lang="ko-KR" altLang="en-US" dirty="0"/>
          </a:p>
        </p:txBody>
      </p:sp>
      <p:sp>
        <p:nvSpPr>
          <p:cNvPr id="8" name="오각형 7"/>
          <p:cNvSpPr/>
          <p:nvPr/>
        </p:nvSpPr>
        <p:spPr bwMode="auto">
          <a:xfrm>
            <a:off x="1062261" y="3070132"/>
            <a:ext cx="1692188" cy="432048"/>
          </a:xfrm>
          <a:prstGeom prst="homePlate">
            <a:avLst>
              <a:gd name="adj" fmla="val 30735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100" b="1" kern="0" spc="-60" dirty="0">
                <a:solidFill>
                  <a:srgbClr val="000000"/>
                </a:solidFill>
                <a:latin typeface="맑은 고딕" pitchFamily="50" charset="-127"/>
              </a:rPr>
              <a:t>접수상담</a:t>
            </a:r>
          </a:p>
        </p:txBody>
      </p:sp>
      <p:sp>
        <p:nvSpPr>
          <p:cNvPr id="9" name="오각형 8"/>
          <p:cNvSpPr/>
          <p:nvPr/>
        </p:nvSpPr>
        <p:spPr bwMode="auto">
          <a:xfrm>
            <a:off x="3441228" y="2219480"/>
            <a:ext cx="3383979" cy="432048"/>
          </a:xfrm>
          <a:prstGeom prst="homePlate">
            <a:avLst>
              <a:gd name="adj" fmla="val 30735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100" b="1" kern="0" spc="-60" dirty="0">
                <a:solidFill>
                  <a:srgbClr val="000000"/>
                </a:solidFill>
                <a:latin typeface="맑은 고딕" pitchFamily="50" charset="-127"/>
              </a:rPr>
              <a:t>직접서비스</a:t>
            </a:r>
          </a:p>
        </p:txBody>
      </p:sp>
      <p:sp>
        <p:nvSpPr>
          <p:cNvPr id="10" name="오각형 9"/>
          <p:cNvSpPr/>
          <p:nvPr/>
        </p:nvSpPr>
        <p:spPr bwMode="auto">
          <a:xfrm>
            <a:off x="3440831" y="3746834"/>
            <a:ext cx="3384233" cy="432048"/>
          </a:xfrm>
          <a:prstGeom prst="homePlate">
            <a:avLst>
              <a:gd name="adj" fmla="val 30735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100" b="1" kern="0" spc="-60">
                <a:solidFill>
                  <a:srgbClr val="000000"/>
                </a:solidFill>
                <a:latin typeface="맑은 고딕" pitchFamily="50" charset="-127"/>
              </a:rPr>
              <a:t>간접서비스</a:t>
            </a:r>
            <a:endParaRPr kumimoji="1" lang="ko-KR" altLang="en-US" sz="1100" b="1" kern="0" spc="-6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11" name="오각형 10"/>
          <p:cNvSpPr/>
          <p:nvPr/>
        </p:nvSpPr>
        <p:spPr bwMode="auto">
          <a:xfrm>
            <a:off x="1064890" y="5085184"/>
            <a:ext cx="5760174" cy="432048"/>
          </a:xfrm>
          <a:prstGeom prst="homePlate">
            <a:avLst>
              <a:gd name="adj" fmla="val 30735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100" b="1" kern="0" spc="-60" dirty="0">
                <a:solidFill>
                  <a:srgbClr val="000000"/>
                </a:solidFill>
                <a:latin typeface="맑은 고딕" pitchFamily="50" charset="-127"/>
              </a:rPr>
              <a:t>유틸리티</a:t>
            </a:r>
          </a:p>
        </p:txBody>
      </p:sp>
      <p:sp>
        <p:nvSpPr>
          <p:cNvPr id="12" name="오각형 11"/>
          <p:cNvSpPr/>
          <p:nvPr/>
        </p:nvSpPr>
        <p:spPr bwMode="auto">
          <a:xfrm>
            <a:off x="7473280" y="3068390"/>
            <a:ext cx="1584176" cy="432048"/>
          </a:xfrm>
          <a:prstGeom prst="homePlate">
            <a:avLst>
              <a:gd name="adj" fmla="val 30735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100" b="1" kern="0" spc="-60" dirty="0">
                <a:solidFill>
                  <a:srgbClr val="000000"/>
                </a:solidFill>
                <a:latin typeface="맑은 고딕" pitchFamily="50" charset="-127"/>
              </a:rPr>
              <a:t>통계 및 지표</a:t>
            </a:r>
          </a:p>
        </p:txBody>
      </p:sp>
      <p:sp>
        <p:nvSpPr>
          <p:cNvPr id="16" name="직사각형 15"/>
          <p:cNvSpPr/>
          <p:nvPr/>
        </p:nvSpPr>
        <p:spPr bwMode="auto">
          <a:xfrm>
            <a:off x="1208584" y="3645024"/>
            <a:ext cx="1296144" cy="21602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>
                <a:solidFill>
                  <a:srgbClr val="000000"/>
                </a:solidFill>
                <a:latin typeface="맑은 고딕" pitchFamily="50" charset="-127"/>
              </a:rPr>
              <a:t>접수상담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의뢰접수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1208584" y="3933056"/>
            <a:ext cx="1296144" cy="21602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등록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사정평가</a:t>
            </a:r>
          </a:p>
        </p:txBody>
      </p:sp>
      <p:sp>
        <p:nvSpPr>
          <p:cNvPr id="18" name="직사각형 17"/>
          <p:cNvSpPr/>
          <p:nvPr/>
        </p:nvSpPr>
        <p:spPr bwMode="auto">
          <a:xfrm>
            <a:off x="1208584" y="4240138"/>
            <a:ext cx="1296144" cy="21602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 dirty="0" err="1">
                <a:solidFill>
                  <a:srgbClr val="000000"/>
                </a:solidFill>
                <a:latin typeface="맑은 고딕" pitchFamily="50" charset="-127"/>
              </a:rPr>
              <a:t>퇴록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재등록</a:t>
            </a:r>
          </a:p>
        </p:txBody>
      </p:sp>
      <p:sp>
        <p:nvSpPr>
          <p:cNvPr id="19" name="직사각형 18"/>
          <p:cNvSpPr/>
          <p:nvPr/>
        </p:nvSpPr>
        <p:spPr bwMode="auto">
          <a:xfrm>
            <a:off x="3450357" y="2890466"/>
            <a:ext cx="916465" cy="21602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ISP 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수립</a:t>
            </a:r>
          </a:p>
        </p:txBody>
      </p:sp>
      <p:sp>
        <p:nvSpPr>
          <p:cNvPr id="21" name="직사각형 20"/>
          <p:cNvSpPr/>
          <p:nvPr/>
        </p:nvSpPr>
        <p:spPr bwMode="auto">
          <a:xfrm>
            <a:off x="4593331" y="2890466"/>
            <a:ext cx="916465" cy="21602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>
                <a:solidFill>
                  <a:srgbClr val="000000"/>
                </a:solidFill>
                <a:latin typeface="맑은 고딕" pitchFamily="50" charset="-127"/>
              </a:rPr>
              <a:t>연계처리</a:t>
            </a:r>
            <a:endParaRPr kumimoji="1" lang="ko-KR" altLang="en-US" sz="1050" kern="0" spc="-6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5736306" y="2890466"/>
            <a:ext cx="916465" cy="21602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Intervention</a:t>
            </a:r>
            <a:endParaRPr kumimoji="1" lang="ko-KR" altLang="en-US" sz="1050" kern="0" spc="-6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64385" y="3164840"/>
            <a:ext cx="98937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ko-KR" altLang="en-US" sz="1000" dirty="0">
                <a:solidFill>
                  <a:srgbClr val="000000"/>
                </a:solidFill>
                <a:cs typeface="Arial" panose="020B0604020202020204" pitchFamily="34" charset="0"/>
              </a:rPr>
              <a:t>사례관리 및 </a:t>
            </a:r>
            <a:endParaRPr kumimoji="1" lang="en-US" altLang="ko-KR" sz="1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ko-KR" altLang="en-US" sz="1000" dirty="0">
                <a:solidFill>
                  <a:srgbClr val="000000"/>
                </a:solidFill>
                <a:cs typeface="Arial" panose="020B0604020202020204" pitchFamily="34" charset="0"/>
              </a:rPr>
              <a:t>프로그램 연계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6919" y="3144043"/>
            <a:ext cx="1188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30000"/>
              </a:spcBef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ko-KR" altLang="en-US" sz="1000" dirty="0">
                <a:solidFill>
                  <a:srgbClr val="000000"/>
                </a:solidFill>
                <a:cs typeface="Arial" panose="020B0604020202020204" pitchFamily="34" charset="0"/>
              </a:rPr>
              <a:t>상담 및 자원조정</a:t>
            </a:r>
            <a:endParaRPr kumimoji="1" lang="en-US" altLang="ko-KR" sz="10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3450357" y="4379720"/>
            <a:ext cx="1574651" cy="21602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교육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홍보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세미나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행사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5133020" y="4379720"/>
            <a:ext cx="1574651" cy="21602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조사연구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3450357" y="4688570"/>
            <a:ext cx="3257314" cy="21044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>
                <a:solidFill>
                  <a:srgbClr val="000000"/>
                </a:solidFill>
                <a:latin typeface="맑은 고딕" pitchFamily="50" charset="-127"/>
              </a:rPr>
              <a:t>자원관리</a:t>
            </a:r>
            <a:endParaRPr kumimoji="1" lang="ko-KR" altLang="en-US" sz="1050" kern="0" spc="-6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1064890" y="5624072"/>
            <a:ext cx="3528441" cy="21104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일정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회의록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근무일지</a:t>
            </a:r>
            <a:r>
              <a:rPr kumimoji="1" lang="en-US" altLang="ko-KR" sz="1050" kern="0" spc="-6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출장일지</a:t>
            </a:r>
            <a:endParaRPr kumimoji="1" lang="ko-KR" altLang="en-US" sz="1050" kern="0" spc="-6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4741829" y="5621581"/>
            <a:ext cx="1965841" cy="21353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050" kern="0" spc="-60" dirty="0">
                <a:solidFill>
                  <a:srgbClr val="000000"/>
                </a:solidFill>
                <a:latin typeface="맑은 고딕" pitchFamily="50" charset="-127"/>
              </a:rPr>
              <a:t>회계</a:t>
            </a:r>
          </a:p>
        </p:txBody>
      </p:sp>
      <p:cxnSp>
        <p:nvCxnSpPr>
          <p:cNvPr id="31" name="꺾인 연결선 30"/>
          <p:cNvCxnSpPr>
            <a:stCxn id="8" idx="3"/>
            <a:endCxn id="9" idx="1"/>
          </p:cNvCxnSpPr>
          <p:nvPr/>
        </p:nvCxnSpPr>
        <p:spPr bwMode="auto">
          <a:xfrm flipV="1">
            <a:off x="2754449" y="2435504"/>
            <a:ext cx="686779" cy="850652"/>
          </a:xfrm>
          <a:prstGeom prst="bentConnector3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꺾인 연결선 32"/>
          <p:cNvCxnSpPr>
            <a:stCxn id="8" idx="3"/>
            <a:endCxn id="10" idx="1"/>
          </p:cNvCxnSpPr>
          <p:nvPr/>
        </p:nvCxnSpPr>
        <p:spPr bwMode="auto">
          <a:xfrm>
            <a:off x="2754449" y="3286156"/>
            <a:ext cx="686382" cy="676702"/>
          </a:xfrm>
          <a:prstGeom prst="bentConnector3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꺾인 연결선 34"/>
          <p:cNvCxnSpPr>
            <a:stCxn id="9" idx="3"/>
            <a:endCxn id="12" idx="1"/>
          </p:cNvCxnSpPr>
          <p:nvPr/>
        </p:nvCxnSpPr>
        <p:spPr bwMode="auto">
          <a:xfrm>
            <a:off x="6825207" y="2435504"/>
            <a:ext cx="648073" cy="848910"/>
          </a:xfrm>
          <a:prstGeom prst="bentConnector3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꺾인 연결선 36"/>
          <p:cNvCxnSpPr>
            <a:stCxn id="10" idx="3"/>
            <a:endCxn id="12" idx="1"/>
          </p:cNvCxnSpPr>
          <p:nvPr/>
        </p:nvCxnSpPr>
        <p:spPr bwMode="auto">
          <a:xfrm flipV="1">
            <a:off x="6825064" y="3284414"/>
            <a:ext cx="648216" cy="678444"/>
          </a:xfrm>
          <a:prstGeom prst="bentConnector3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꺾인 연결선 38"/>
          <p:cNvCxnSpPr>
            <a:stCxn id="11" idx="3"/>
            <a:endCxn id="12" idx="1"/>
          </p:cNvCxnSpPr>
          <p:nvPr/>
        </p:nvCxnSpPr>
        <p:spPr bwMode="auto">
          <a:xfrm flipV="1">
            <a:off x="6825064" y="3284414"/>
            <a:ext cx="648216" cy="2016794"/>
          </a:xfrm>
          <a:prstGeom prst="bentConnector3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직선 화살표 연결선 41"/>
          <p:cNvCxnSpPr>
            <a:stCxn id="19" idx="3"/>
            <a:endCxn id="21" idx="1"/>
          </p:cNvCxnSpPr>
          <p:nvPr/>
        </p:nvCxnSpPr>
        <p:spPr bwMode="auto">
          <a:xfrm>
            <a:off x="4366822" y="2998478"/>
            <a:ext cx="226509" cy="0"/>
          </a:xfrm>
          <a:prstGeom prst="straightConnector1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직선 화살표 연결선 43"/>
          <p:cNvCxnSpPr>
            <a:stCxn id="21" idx="3"/>
            <a:endCxn id="22" idx="1"/>
          </p:cNvCxnSpPr>
          <p:nvPr/>
        </p:nvCxnSpPr>
        <p:spPr bwMode="auto">
          <a:xfrm>
            <a:off x="5509796" y="2998478"/>
            <a:ext cx="226510" cy="0"/>
          </a:xfrm>
          <a:prstGeom prst="straightConnector1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꺾인 연결선 45"/>
          <p:cNvCxnSpPr>
            <a:stCxn id="22" idx="0"/>
            <a:endCxn id="21" idx="0"/>
          </p:cNvCxnSpPr>
          <p:nvPr/>
        </p:nvCxnSpPr>
        <p:spPr bwMode="auto">
          <a:xfrm rot="16200000" flipV="1">
            <a:off x="5623052" y="2318978"/>
            <a:ext cx="12700" cy="1142975"/>
          </a:xfrm>
          <a:prstGeom prst="bentConnector3">
            <a:avLst>
              <a:gd name="adj1" fmla="val 1049984"/>
            </a:avLst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1361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 smtClean="0"/>
              <a:t>sMHIS </a:t>
            </a:r>
            <a:r>
              <a:rPr lang="ko-KR" altLang="en-US" dirty="0" smtClean="0"/>
              <a:t>주요 서비스 및 관리 메뉴구성도는 아래와 같습니다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sMHIS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(</a:t>
            </a:r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ko-KR" altLang="en-US" dirty="0" smtClean="0"/>
              <a:t>메뉴 기준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117" name="직사각형 116"/>
          <p:cNvSpPr/>
          <p:nvPr/>
        </p:nvSpPr>
        <p:spPr>
          <a:xfrm>
            <a:off x="538366" y="1975443"/>
            <a:ext cx="2633300" cy="180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1.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정신보건 메인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804986" y="2214581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1.1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시설 이용 현황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127577" y="2417691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1.1.1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20" name="꺾인 연결선 119"/>
          <p:cNvCxnSpPr>
            <a:endCxn id="118" idx="1"/>
          </p:cNvCxnSpPr>
          <p:nvPr/>
        </p:nvCxnSpPr>
        <p:spPr bwMode="auto">
          <a:xfrm rot="16200000" flipH="1">
            <a:off x="626253" y="2107865"/>
            <a:ext cx="146817" cy="210650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1" name="꺾인 연결선 120"/>
          <p:cNvCxnSpPr>
            <a:endCxn id="119" idx="1"/>
          </p:cNvCxnSpPr>
          <p:nvPr/>
        </p:nvCxnSpPr>
        <p:spPr bwMode="auto">
          <a:xfrm rot="16200000" flipH="1">
            <a:off x="926413" y="2288545"/>
            <a:ext cx="165172" cy="237154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8" name="직사각형 107"/>
          <p:cNvSpPr/>
          <p:nvPr/>
        </p:nvSpPr>
        <p:spPr>
          <a:xfrm>
            <a:off x="538366" y="2708920"/>
            <a:ext cx="2633300" cy="180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2.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접수상담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804986" y="2948058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>
                <a:solidFill>
                  <a:prstClr val="white"/>
                </a:solidFill>
                <a:latin typeface="맑은 고딕"/>
              </a:rPr>
              <a:t>2.1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접수상담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10" name="꺾인 연결선 109"/>
          <p:cNvCxnSpPr>
            <a:endCxn id="109" idx="1"/>
          </p:cNvCxnSpPr>
          <p:nvPr/>
        </p:nvCxnSpPr>
        <p:spPr bwMode="auto">
          <a:xfrm>
            <a:off x="586255" y="2900107"/>
            <a:ext cx="218731" cy="119969"/>
          </a:xfrm>
          <a:prstGeom prst="bentConnector3">
            <a:avLst>
              <a:gd name="adj1" fmla="val -277"/>
            </a:avLst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1" name="직사각형 110"/>
          <p:cNvSpPr/>
          <p:nvPr/>
        </p:nvSpPr>
        <p:spPr>
          <a:xfrm>
            <a:off x="804986" y="3151168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>
                <a:solidFill>
                  <a:prstClr val="white"/>
                </a:solidFill>
                <a:latin typeface="맑은 고딕"/>
              </a:rPr>
              <a:t>2.2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의뢰접수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12" name="꺾인 연결선 111"/>
          <p:cNvCxnSpPr>
            <a:endCxn id="111" idx="1"/>
          </p:cNvCxnSpPr>
          <p:nvPr/>
        </p:nvCxnSpPr>
        <p:spPr bwMode="auto">
          <a:xfrm rot="16200000" flipH="1">
            <a:off x="585024" y="3003222"/>
            <a:ext cx="221196" cy="21872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3" name="직사각형 112"/>
          <p:cNvSpPr/>
          <p:nvPr/>
        </p:nvSpPr>
        <p:spPr>
          <a:xfrm>
            <a:off x="804986" y="3354277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>
                <a:solidFill>
                  <a:prstClr val="white"/>
                </a:solidFill>
                <a:latin typeface="맑은 고딕"/>
              </a:rPr>
              <a:t>2.3 </a:t>
            </a:r>
            <a:r>
              <a:rPr kumimoji="1" lang="ko-KR" altLang="en-US" sz="1000" spc="-100" dirty="0" err="1">
                <a:solidFill>
                  <a:prstClr val="white"/>
                </a:solidFill>
                <a:latin typeface="맑은 고딕"/>
              </a:rPr>
              <a:t>퇴록관리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14" name="꺾인 연결선 113"/>
          <p:cNvCxnSpPr>
            <a:endCxn id="113" idx="1"/>
          </p:cNvCxnSpPr>
          <p:nvPr/>
        </p:nvCxnSpPr>
        <p:spPr bwMode="auto">
          <a:xfrm rot="16200000" flipH="1">
            <a:off x="585351" y="3206659"/>
            <a:ext cx="220541" cy="21872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5" name="직사각형 114"/>
          <p:cNvSpPr/>
          <p:nvPr/>
        </p:nvSpPr>
        <p:spPr>
          <a:xfrm>
            <a:off x="804986" y="3557387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2.4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재등록관리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16" name="꺾인 연결선 115"/>
          <p:cNvCxnSpPr>
            <a:endCxn id="115" idx="1"/>
          </p:cNvCxnSpPr>
          <p:nvPr/>
        </p:nvCxnSpPr>
        <p:spPr bwMode="auto">
          <a:xfrm rot="16200000" flipH="1">
            <a:off x="585678" y="3410096"/>
            <a:ext cx="219887" cy="21872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7" name="직사각형 86"/>
          <p:cNvSpPr/>
          <p:nvPr/>
        </p:nvSpPr>
        <p:spPr>
          <a:xfrm>
            <a:off x="538366" y="3861048"/>
            <a:ext cx="2633300" cy="180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3.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직접서비스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804986" y="4100186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3.1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사정평가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89" name="꺾인 연결선 88"/>
          <p:cNvCxnSpPr>
            <a:endCxn id="88" idx="1"/>
          </p:cNvCxnSpPr>
          <p:nvPr/>
        </p:nvCxnSpPr>
        <p:spPr bwMode="auto">
          <a:xfrm rot="16200000" flipH="1">
            <a:off x="619258" y="3986475"/>
            <a:ext cx="152726" cy="21873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직사각형 89"/>
          <p:cNvSpPr/>
          <p:nvPr/>
        </p:nvSpPr>
        <p:spPr>
          <a:xfrm>
            <a:off x="804986" y="4303296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3.2 ISP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수립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804986" y="4506406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3.3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평가도구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92" name="꺾인 연결선 91"/>
          <p:cNvCxnSpPr>
            <a:endCxn id="91" idx="1"/>
          </p:cNvCxnSpPr>
          <p:nvPr/>
        </p:nvCxnSpPr>
        <p:spPr bwMode="auto">
          <a:xfrm rot="16200000" flipH="1">
            <a:off x="568970" y="4342407"/>
            <a:ext cx="253300" cy="21873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3" name="직사각형 92"/>
          <p:cNvSpPr/>
          <p:nvPr/>
        </p:nvSpPr>
        <p:spPr>
          <a:xfrm>
            <a:off x="804986" y="4709515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3.4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연계처리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94" name="꺾인 연결선 93"/>
          <p:cNvCxnSpPr>
            <a:endCxn id="93" idx="1"/>
          </p:cNvCxnSpPr>
          <p:nvPr/>
        </p:nvCxnSpPr>
        <p:spPr bwMode="auto">
          <a:xfrm rot="16200000" flipH="1">
            <a:off x="594769" y="4571314"/>
            <a:ext cx="201705" cy="21873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5" name="직사각형 94"/>
          <p:cNvSpPr/>
          <p:nvPr/>
        </p:nvSpPr>
        <p:spPr>
          <a:xfrm>
            <a:off x="1127577" y="4912625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3.4.1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사례관리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96" name="꺾인 연결선 95"/>
          <p:cNvCxnSpPr>
            <a:endCxn id="95" idx="1"/>
          </p:cNvCxnSpPr>
          <p:nvPr/>
        </p:nvCxnSpPr>
        <p:spPr bwMode="auto">
          <a:xfrm>
            <a:off x="890421" y="4834534"/>
            <a:ext cx="237156" cy="150109"/>
          </a:xfrm>
          <a:prstGeom prst="bentConnector3">
            <a:avLst>
              <a:gd name="adj1" fmla="val -48"/>
            </a:avLst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7" name="직사각형 96"/>
          <p:cNvSpPr/>
          <p:nvPr/>
        </p:nvSpPr>
        <p:spPr>
          <a:xfrm>
            <a:off x="1127577" y="5115734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>
                <a:solidFill>
                  <a:prstClr val="black"/>
                </a:solidFill>
                <a:latin typeface="맑은 고딕"/>
              </a:rPr>
              <a:t>3.4.2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프로그램 연계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98" name="꺾인 연결선 97"/>
          <p:cNvCxnSpPr>
            <a:endCxn id="97" idx="1"/>
          </p:cNvCxnSpPr>
          <p:nvPr/>
        </p:nvCxnSpPr>
        <p:spPr bwMode="auto">
          <a:xfrm rot="16200000" flipH="1">
            <a:off x="832390" y="4892565"/>
            <a:ext cx="353218" cy="23715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9" name="직사각형 98"/>
          <p:cNvSpPr/>
          <p:nvPr/>
        </p:nvSpPr>
        <p:spPr>
          <a:xfrm>
            <a:off x="1127577" y="5318844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3.4.3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임의 프로그램 연계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00" name="꺾인 연결선 99"/>
          <p:cNvCxnSpPr>
            <a:endCxn id="99" idx="1"/>
          </p:cNvCxnSpPr>
          <p:nvPr/>
        </p:nvCxnSpPr>
        <p:spPr bwMode="auto">
          <a:xfrm rot="16200000" flipH="1">
            <a:off x="909131" y="5172415"/>
            <a:ext cx="199739" cy="23715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1" name="꺾인 연결선 100"/>
          <p:cNvCxnSpPr>
            <a:endCxn id="90" idx="1"/>
          </p:cNvCxnSpPr>
          <p:nvPr/>
        </p:nvCxnSpPr>
        <p:spPr bwMode="auto">
          <a:xfrm rot="16200000" flipH="1">
            <a:off x="543173" y="4113500"/>
            <a:ext cx="304895" cy="21873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2" name="직사각형 101"/>
          <p:cNvSpPr/>
          <p:nvPr/>
        </p:nvSpPr>
        <p:spPr>
          <a:xfrm>
            <a:off x="804986" y="5521953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3.5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 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Intervention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03" name="꺾인 연결선 102"/>
          <p:cNvCxnSpPr>
            <a:endCxn id="102" idx="1"/>
          </p:cNvCxnSpPr>
          <p:nvPr/>
        </p:nvCxnSpPr>
        <p:spPr bwMode="auto">
          <a:xfrm rot="16200000" flipH="1">
            <a:off x="290431" y="5079415"/>
            <a:ext cx="810379" cy="21873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4" name="직사각형 103"/>
          <p:cNvSpPr/>
          <p:nvPr/>
        </p:nvSpPr>
        <p:spPr>
          <a:xfrm>
            <a:off x="1127577" y="5725063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3.5.1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개별상담 및 자원조정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05" name="꺾인 연결선 104"/>
          <p:cNvCxnSpPr>
            <a:endCxn id="104" idx="1"/>
          </p:cNvCxnSpPr>
          <p:nvPr/>
        </p:nvCxnSpPr>
        <p:spPr bwMode="auto">
          <a:xfrm>
            <a:off x="890422" y="5644489"/>
            <a:ext cx="237154" cy="152592"/>
          </a:xfrm>
          <a:prstGeom prst="bentConnector3">
            <a:avLst>
              <a:gd name="adj1" fmla="val -48"/>
            </a:avLst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6" name="직사각형 105"/>
          <p:cNvSpPr/>
          <p:nvPr/>
        </p:nvSpPr>
        <p:spPr>
          <a:xfrm>
            <a:off x="1127577" y="5928176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3.5.2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그룹 프로그램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07" name="꺾인 연결선 106"/>
          <p:cNvCxnSpPr>
            <a:endCxn id="106" idx="1"/>
          </p:cNvCxnSpPr>
          <p:nvPr/>
        </p:nvCxnSpPr>
        <p:spPr bwMode="auto">
          <a:xfrm rot="16200000" flipH="1">
            <a:off x="884640" y="5757256"/>
            <a:ext cx="248721" cy="23715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직사각형 69"/>
          <p:cNvSpPr/>
          <p:nvPr/>
        </p:nvSpPr>
        <p:spPr>
          <a:xfrm>
            <a:off x="3589273" y="1971862"/>
            <a:ext cx="2633300" cy="180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4.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간접서비스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855893" y="2202687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4.1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예방 및 증진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72" name="꺾인 연결선 71"/>
          <p:cNvCxnSpPr>
            <a:endCxn id="71" idx="1"/>
          </p:cNvCxnSpPr>
          <p:nvPr/>
        </p:nvCxnSpPr>
        <p:spPr bwMode="auto">
          <a:xfrm rot="16200000" flipH="1">
            <a:off x="3696340" y="2115151"/>
            <a:ext cx="128530" cy="19057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3" name="직사각형 72"/>
          <p:cNvSpPr/>
          <p:nvPr/>
        </p:nvSpPr>
        <p:spPr>
          <a:xfrm>
            <a:off x="4178484" y="2397484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4.1.1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교육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74" name="꺾인 연결선 73"/>
          <p:cNvCxnSpPr>
            <a:endCxn id="73" idx="1"/>
          </p:cNvCxnSpPr>
          <p:nvPr/>
        </p:nvCxnSpPr>
        <p:spPr bwMode="auto">
          <a:xfrm rot="16200000" flipH="1">
            <a:off x="3988729" y="2279747"/>
            <a:ext cx="170505" cy="20900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5" name="직사각형 74"/>
          <p:cNvSpPr/>
          <p:nvPr/>
        </p:nvSpPr>
        <p:spPr>
          <a:xfrm>
            <a:off x="4178484" y="2592280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4.1.2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홍보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76" name="꺾인 연결선 75"/>
          <p:cNvCxnSpPr>
            <a:endCxn id="75" idx="1"/>
          </p:cNvCxnSpPr>
          <p:nvPr/>
        </p:nvCxnSpPr>
        <p:spPr bwMode="auto">
          <a:xfrm rot="16200000" flipH="1">
            <a:off x="3916802" y="2402615"/>
            <a:ext cx="314361" cy="20900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7" name="직사각형 76"/>
          <p:cNvSpPr/>
          <p:nvPr/>
        </p:nvSpPr>
        <p:spPr>
          <a:xfrm>
            <a:off x="4178484" y="2787077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4.1.3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행사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78" name="꺾인 연결선 77"/>
          <p:cNvCxnSpPr>
            <a:endCxn id="77" idx="1"/>
          </p:cNvCxnSpPr>
          <p:nvPr/>
        </p:nvCxnSpPr>
        <p:spPr bwMode="auto">
          <a:xfrm rot="16200000" flipH="1">
            <a:off x="3921287" y="2601898"/>
            <a:ext cx="305391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9" name="직사각형 78"/>
          <p:cNvSpPr/>
          <p:nvPr/>
        </p:nvSpPr>
        <p:spPr>
          <a:xfrm>
            <a:off x="4178484" y="2981873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>
                <a:solidFill>
                  <a:prstClr val="black"/>
                </a:solidFill>
                <a:latin typeface="맑은 고딕"/>
              </a:rPr>
              <a:t>4.1.4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캠페인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80" name="꺾인 연결선 79"/>
          <p:cNvCxnSpPr>
            <a:endCxn id="79" idx="1"/>
          </p:cNvCxnSpPr>
          <p:nvPr/>
        </p:nvCxnSpPr>
        <p:spPr bwMode="auto">
          <a:xfrm rot="16200000" flipH="1">
            <a:off x="3932466" y="2807872"/>
            <a:ext cx="283034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1" name="직사각형 80"/>
          <p:cNvSpPr/>
          <p:nvPr/>
        </p:nvSpPr>
        <p:spPr>
          <a:xfrm>
            <a:off x="4178484" y="3176670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4.1.5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세미나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82" name="꺾인 연결선 81"/>
          <p:cNvCxnSpPr>
            <a:endCxn id="81" idx="1"/>
          </p:cNvCxnSpPr>
          <p:nvPr/>
        </p:nvCxnSpPr>
        <p:spPr bwMode="auto">
          <a:xfrm rot="16200000" flipH="1">
            <a:off x="3936950" y="3007153"/>
            <a:ext cx="274067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3" name="직사각형 82"/>
          <p:cNvSpPr/>
          <p:nvPr/>
        </p:nvSpPr>
        <p:spPr>
          <a:xfrm>
            <a:off x="3855893" y="3371466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4.2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자원관리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84" name="꺾인 연결선 83"/>
          <p:cNvCxnSpPr>
            <a:endCxn id="83" idx="1"/>
          </p:cNvCxnSpPr>
          <p:nvPr/>
        </p:nvCxnSpPr>
        <p:spPr bwMode="auto">
          <a:xfrm rot="16200000" flipH="1">
            <a:off x="3111951" y="2699541"/>
            <a:ext cx="1297309" cy="19057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5" name="직사각형 84"/>
          <p:cNvSpPr/>
          <p:nvPr/>
        </p:nvSpPr>
        <p:spPr>
          <a:xfrm>
            <a:off x="3855893" y="3566263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4.3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조사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/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연구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86" name="꺾인 연결선 85"/>
          <p:cNvCxnSpPr>
            <a:endCxn id="85" idx="1"/>
          </p:cNvCxnSpPr>
          <p:nvPr/>
        </p:nvCxnSpPr>
        <p:spPr bwMode="auto">
          <a:xfrm rot="16200000" flipH="1">
            <a:off x="3116435" y="2898821"/>
            <a:ext cx="1288342" cy="19057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직사각형 52"/>
          <p:cNvSpPr/>
          <p:nvPr/>
        </p:nvSpPr>
        <p:spPr>
          <a:xfrm>
            <a:off x="3589273" y="3850808"/>
            <a:ext cx="2633300" cy="180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5.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유틸리티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855893" y="4081633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5.1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회의록 등록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55" name="꺾인 연결선 54"/>
          <p:cNvCxnSpPr>
            <a:endCxn id="54" idx="1"/>
          </p:cNvCxnSpPr>
          <p:nvPr/>
        </p:nvCxnSpPr>
        <p:spPr bwMode="auto">
          <a:xfrm rot="16200000" flipH="1">
            <a:off x="3693208" y="3990964"/>
            <a:ext cx="134794" cy="19057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6" name="직사각형 55"/>
          <p:cNvSpPr/>
          <p:nvPr/>
        </p:nvSpPr>
        <p:spPr>
          <a:xfrm>
            <a:off x="3855893" y="4276430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5.2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근무일지 등록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57" name="꺾인 연결선 56"/>
          <p:cNvCxnSpPr>
            <a:endCxn id="56" idx="1"/>
          </p:cNvCxnSpPr>
          <p:nvPr/>
        </p:nvCxnSpPr>
        <p:spPr bwMode="auto">
          <a:xfrm rot="16200000" flipH="1">
            <a:off x="3646752" y="4139305"/>
            <a:ext cx="227707" cy="190577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직사각형 57"/>
          <p:cNvSpPr/>
          <p:nvPr/>
        </p:nvSpPr>
        <p:spPr>
          <a:xfrm>
            <a:off x="3855893" y="4471226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5.3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출장내역 등록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59" name="꺾인 연결선 58"/>
          <p:cNvCxnSpPr>
            <a:endCxn id="58" idx="1"/>
          </p:cNvCxnSpPr>
          <p:nvPr/>
        </p:nvCxnSpPr>
        <p:spPr bwMode="auto">
          <a:xfrm rot="16200000" flipH="1">
            <a:off x="3651236" y="4338586"/>
            <a:ext cx="218740" cy="190577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0" name="직사각형 59"/>
          <p:cNvSpPr/>
          <p:nvPr/>
        </p:nvSpPr>
        <p:spPr>
          <a:xfrm>
            <a:off x="3855893" y="4666023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5.4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회계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61" name="꺾인 연결선 60"/>
          <p:cNvCxnSpPr>
            <a:endCxn id="60" idx="1"/>
          </p:cNvCxnSpPr>
          <p:nvPr/>
        </p:nvCxnSpPr>
        <p:spPr bwMode="auto">
          <a:xfrm rot="16200000" flipH="1">
            <a:off x="3655719" y="4537866"/>
            <a:ext cx="209772" cy="190577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2" name="직사각형 61"/>
          <p:cNvSpPr/>
          <p:nvPr/>
        </p:nvSpPr>
        <p:spPr>
          <a:xfrm>
            <a:off x="4178484" y="4860820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5.4.1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수입지출 상세내역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63" name="꺾인 연결선 62"/>
          <p:cNvCxnSpPr>
            <a:endCxn id="62" idx="1"/>
          </p:cNvCxnSpPr>
          <p:nvPr/>
        </p:nvCxnSpPr>
        <p:spPr bwMode="auto">
          <a:xfrm rot="16200000" flipH="1">
            <a:off x="3973581" y="4727933"/>
            <a:ext cx="200805" cy="20900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직사각형 63"/>
          <p:cNvSpPr/>
          <p:nvPr/>
        </p:nvSpPr>
        <p:spPr>
          <a:xfrm>
            <a:off x="4178484" y="5055616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5.4.2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회계예산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65" name="꺾인 연결선 64"/>
          <p:cNvCxnSpPr>
            <a:endCxn id="64" idx="1"/>
          </p:cNvCxnSpPr>
          <p:nvPr/>
        </p:nvCxnSpPr>
        <p:spPr bwMode="auto">
          <a:xfrm rot="16200000" flipH="1">
            <a:off x="3933818" y="4882968"/>
            <a:ext cx="280330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직사각형 65"/>
          <p:cNvSpPr/>
          <p:nvPr/>
        </p:nvSpPr>
        <p:spPr>
          <a:xfrm>
            <a:off x="4178484" y="5250413"/>
            <a:ext cx="2044089" cy="1440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5.4.3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예산집행현황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67" name="꺾인 연결선 66"/>
          <p:cNvCxnSpPr>
            <a:endCxn id="66" idx="1"/>
          </p:cNvCxnSpPr>
          <p:nvPr/>
        </p:nvCxnSpPr>
        <p:spPr bwMode="auto">
          <a:xfrm rot="16200000" flipH="1">
            <a:off x="3938302" y="5082248"/>
            <a:ext cx="271362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8" name="직사각형 67"/>
          <p:cNvSpPr/>
          <p:nvPr/>
        </p:nvSpPr>
        <p:spPr>
          <a:xfrm>
            <a:off x="3855893" y="5445205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5.5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일정관리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69" name="꺾인 연결선 68"/>
          <p:cNvCxnSpPr>
            <a:endCxn id="68" idx="1"/>
          </p:cNvCxnSpPr>
          <p:nvPr/>
        </p:nvCxnSpPr>
        <p:spPr bwMode="auto">
          <a:xfrm rot="16200000" flipH="1">
            <a:off x="3036894" y="4698222"/>
            <a:ext cx="1447423" cy="190577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직사각형 47"/>
          <p:cNvSpPr/>
          <p:nvPr/>
        </p:nvSpPr>
        <p:spPr>
          <a:xfrm>
            <a:off x="6640181" y="1975443"/>
            <a:ext cx="2633300" cy="180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7.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사용자매뉴얼</a:t>
            </a: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/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사용자 문의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906801" y="2206269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7.1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사용자 매뉴얼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50" name="꺾인 연결선 49"/>
          <p:cNvCxnSpPr>
            <a:endCxn id="49" idx="1"/>
          </p:cNvCxnSpPr>
          <p:nvPr/>
        </p:nvCxnSpPr>
        <p:spPr bwMode="auto">
          <a:xfrm rot="16200000" flipH="1">
            <a:off x="6747248" y="2118732"/>
            <a:ext cx="128530" cy="19057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직사각형 50"/>
          <p:cNvSpPr/>
          <p:nvPr/>
        </p:nvSpPr>
        <p:spPr>
          <a:xfrm>
            <a:off x="6906801" y="2404460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7.2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사용자 문의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906801" y="2599257"/>
            <a:ext cx="2366680" cy="14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7.3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서식자료실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40181" y="2883995"/>
            <a:ext cx="2633300" cy="1761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8.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시스템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906801" y="3109864"/>
            <a:ext cx="2366680" cy="140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8.1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기준정보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7" name="꺾인 연결선 16"/>
          <p:cNvCxnSpPr>
            <a:endCxn id="16" idx="1"/>
          </p:cNvCxnSpPr>
          <p:nvPr/>
        </p:nvCxnSpPr>
        <p:spPr bwMode="auto">
          <a:xfrm rot="16200000" flipH="1">
            <a:off x="6748628" y="3022161"/>
            <a:ext cx="125770" cy="19057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직사각형 17"/>
          <p:cNvSpPr/>
          <p:nvPr/>
        </p:nvSpPr>
        <p:spPr>
          <a:xfrm>
            <a:off x="7229392" y="3300477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인적자원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9" name="꺾인 연결선 18"/>
          <p:cNvCxnSpPr>
            <a:endCxn id="18" idx="1"/>
          </p:cNvCxnSpPr>
          <p:nvPr/>
        </p:nvCxnSpPr>
        <p:spPr bwMode="auto">
          <a:xfrm rot="16200000" flipH="1">
            <a:off x="7041468" y="3183024"/>
            <a:ext cx="166844" cy="20900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직사각형 19"/>
          <p:cNvSpPr/>
          <p:nvPr/>
        </p:nvSpPr>
        <p:spPr>
          <a:xfrm>
            <a:off x="7229392" y="3491091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기관자원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1" name="꺾인 연결선 20"/>
          <p:cNvCxnSpPr>
            <a:endCxn id="20" idx="1"/>
          </p:cNvCxnSpPr>
          <p:nvPr/>
        </p:nvCxnSpPr>
        <p:spPr bwMode="auto">
          <a:xfrm rot="16200000" flipH="1">
            <a:off x="6971085" y="3303254"/>
            <a:ext cx="307610" cy="20900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직사각형 21"/>
          <p:cNvSpPr/>
          <p:nvPr/>
        </p:nvSpPr>
        <p:spPr>
          <a:xfrm>
            <a:off x="7229392" y="3681704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공통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3" name="꺾인 연결선 22"/>
          <p:cNvCxnSpPr>
            <a:endCxn id="22" idx="1"/>
          </p:cNvCxnSpPr>
          <p:nvPr/>
        </p:nvCxnSpPr>
        <p:spPr bwMode="auto">
          <a:xfrm rot="16200000" flipH="1">
            <a:off x="6975474" y="3498258"/>
            <a:ext cx="298833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직사각형 23"/>
          <p:cNvSpPr/>
          <p:nvPr/>
        </p:nvSpPr>
        <p:spPr>
          <a:xfrm>
            <a:off x="7229392" y="3872318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행사마스터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5" name="꺾인 연결선 24"/>
          <p:cNvCxnSpPr>
            <a:endCxn id="24" idx="1"/>
          </p:cNvCxnSpPr>
          <p:nvPr/>
        </p:nvCxnSpPr>
        <p:spPr bwMode="auto">
          <a:xfrm rot="16200000" flipH="1">
            <a:off x="6986413" y="3699809"/>
            <a:ext cx="276956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직사각형 25"/>
          <p:cNvSpPr/>
          <p:nvPr/>
        </p:nvSpPr>
        <p:spPr>
          <a:xfrm>
            <a:off x="7229392" y="4062931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8.1.5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진단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(ICD10)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7" name="꺾인 연결선 26"/>
          <p:cNvCxnSpPr>
            <a:endCxn id="26" idx="1"/>
          </p:cNvCxnSpPr>
          <p:nvPr/>
        </p:nvCxnSpPr>
        <p:spPr bwMode="auto">
          <a:xfrm rot="16200000" flipH="1">
            <a:off x="6990800" y="3894810"/>
            <a:ext cx="268181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직사각형 27"/>
          <p:cNvSpPr/>
          <p:nvPr/>
        </p:nvSpPr>
        <p:spPr>
          <a:xfrm>
            <a:off x="7229392" y="4256191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8.1.6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약품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7229392" y="4446805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8.1.7 ISP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평가도구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0" name="꺾인 연결선 29"/>
          <p:cNvCxnSpPr>
            <a:endCxn id="29" idx="1"/>
          </p:cNvCxnSpPr>
          <p:nvPr/>
        </p:nvCxnSpPr>
        <p:spPr bwMode="auto">
          <a:xfrm rot="16200000" flipH="1">
            <a:off x="6975474" y="4263358"/>
            <a:ext cx="298833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직사각형 30"/>
          <p:cNvSpPr/>
          <p:nvPr/>
        </p:nvSpPr>
        <p:spPr>
          <a:xfrm>
            <a:off x="7229392" y="4637418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8.1.8 HONOS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2" name="꺾인 연결선 31"/>
          <p:cNvCxnSpPr>
            <a:endCxn id="31" idx="1"/>
          </p:cNvCxnSpPr>
          <p:nvPr/>
        </p:nvCxnSpPr>
        <p:spPr bwMode="auto">
          <a:xfrm rot="16200000" flipH="1">
            <a:off x="6986413" y="4464910"/>
            <a:ext cx="276956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직사각형 32"/>
          <p:cNvSpPr/>
          <p:nvPr/>
        </p:nvSpPr>
        <p:spPr>
          <a:xfrm>
            <a:off x="7229392" y="4828032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8.1.9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우편물 주소 출력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4" name="꺾인 연결선 33"/>
          <p:cNvCxnSpPr>
            <a:endCxn id="33" idx="1"/>
          </p:cNvCxnSpPr>
          <p:nvPr/>
        </p:nvCxnSpPr>
        <p:spPr bwMode="auto">
          <a:xfrm rot="16200000" flipH="1">
            <a:off x="6990800" y="4659911"/>
            <a:ext cx="268181" cy="20900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꺾인 연결선 34"/>
          <p:cNvCxnSpPr>
            <a:endCxn id="28" idx="1"/>
          </p:cNvCxnSpPr>
          <p:nvPr/>
        </p:nvCxnSpPr>
        <p:spPr bwMode="auto">
          <a:xfrm rot="16200000" flipH="1">
            <a:off x="6976800" y="4074070"/>
            <a:ext cx="296184" cy="209000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직사각형 35"/>
          <p:cNvSpPr/>
          <p:nvPr/>
        </p:nvSpPr>
        <p:spPr>
          <a:xfrm>
            <a:off x="6906801" y="5027420"/>
            <a:ext cx="2366680" cy="140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8.2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로그인 사용자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37" name="꺾인 연결선 36"/>
          <p:cNvCxnSpPr>
            <a:endCxn id="36" idx="1"/>
          </p:cNvCxnSpPr>
          <p:nvPr/>
        </p:nvCxnSpPr>
        <p:spPr bwMode="auto">
          <a:xfrm rot="16200000" flipH="1">
            <a:off x="5802657" y="3993747"/>
            <a:ext cx="2012761" cy="19552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직사각형 37"/>
          <p:cNvSpPr/>
          <p:nvPr/>
        </p:nvSpPr>
        <p:spPr>
          <a:xfrm>
            <a:off x="6906801" y="5226808"/>
            <a:ext cx="2366680" cy="140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>
                <a:solidFill>
                  <a:prstClr val="white"/>
                </a:solidFill>
                <a:latin typeface="맑은 고딕"/>
              </a:rPr>
              <a:t>8.3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메뉴 관리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39" name="꺾인 연결선 38"/>
          <p:cNvCxnSpPr>
            <a:endCxn id="38" idx="1"/>
          </p:cNvCxnSpPr>
          <p:nvPr/>
        </p:nvCxnSpPr>
        <p:spPr bwMode="auto">
          <a:xfrm rot="16200000" flipH="1">
            <a:off x="5802657" y="4193135"/>
            <a:ext cx="2012761" cy="19552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직사각형 39"/>
          <p:cNvSpPr/>
          <p:nvPr/>
        </p:nvSpPr>
        <p:spPr>
          <a:xfrm>
            <a:off x="6906801" y="5426197"/>
            <a:ext cx="2366680" cy="140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8.4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권한관리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229392" y="5625585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>
                <a:solidFill>
                  <a:prstClr val="black"/>
                </a:solidFill>
                <a:latin typeface="맑은 고딕"/>
              </a:rPr>
              <a:t>8.4.1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권한그룹관리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42" name="꺾인 연결선 41"/>
          <p:cNvCxnSpPr>
            <a:endCxn id="41" idx="1"/>
          </p:cNvCxnSpPr>
          <p:nvPr/>
        </p:nvCxnSpPr>
        <p:spPr bwMode="auto">
          <a:xfrm rot="16200000" flipH="1">
            <a:off x="7041468" y="5508132"/>
            <a:ext cx="166844" cy="20900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직사각형 42"/>
          <p:cNvSpPr/>
          <p:nvPr/>
        </p:nvSpPr>
        <p:spPr>
          <a:xfrm>
            <a:off x="7229392" y="5824973"/>
            <a:ext cx="2044089" cy="1409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8.4.2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권한별메뉴관리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44" name="꺾인 연결선 43"/>
          <p:cNvCxnSpPr>
            <a:endCxn id="43" idx="1"/>
          </p:cNvCxnSpPr>
          <p:nvPr/>
        </p:nvCxnSpPr>
        <p:spPr bwMode="auto">
          <a:xfrm rot="16200000" flipH="1">
            <a:off x="7014884" y="5680936"/>
            <a:ext cx="220012" cy="20900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직사각형 44"/>
          <p:cNvSpPr/>
          <p:nvPr/>
        </p:nvSpPr>
        <p:spPr>
          <a:xfrm>
            <a:off x="6906801" y="6024362"/>
            <a:ext cx="2366680" cy="140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8.5 </a:t>
            </a:r>
            <a:r>
              <a:rPr kumimoji="1" lang="ko-KR" altLang="en-US" sz="1000" spc="-100" dirty="0" err="1">
                <a:solidFill>
                  <a:prstClr val="white"/>
                </a:solidFill>
                <a:latin typeface="맑은 고딕"/>
              </a:rPr>
              <a:t>쿼리실행기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46" name="꺾인 연결선 45"/>
          <p:cNvCxnSpPr>
            <a:endCxn id="40" idx="1"/>
          </p:cNvCxnSpPr>
          <p:nvPr/>
        </p:nvCxnSpPr>
        <p:spPr bwMode="auto">
          <a:xfrm rot="16200000" flipH="1">
            <a:off x="5727014" y="4316880"/>
            <a:ext cx="2164048" cy="19552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꺾인 연결선 46"/>
          <p:cNvCxnSpPr>
            <a:endCxn id="45" idx="1"/>
          </p:cNvCxnSpPr>
          <p:nvPr/>
        </p:nvCxnSpPr>
        <p:spPr bwMode="auto">
          <a:xfrm rot="16200000" flipH="1">
            <a:off x="5452855" y="4640886"/>
            <a:ext cx="2712366" cy="19552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0396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/>
              <a:t>sMHIS </a:t>
            </a:r>
            <a:r>
              <a:rPr lang="ko-KR" altLang="en-US" dirty="0" smtClean="0"/>
              <a:t>통계 및 지표 메뉴 세부구성도는 </a:t>
            </a:r>
            <a:r>
              <a:rPr lang="ko-KR" altLang="en-US" dirty="0"/>
              <a:t>아래와 같습니다</a:t>
            </a:r>
            <a:r>
              <a:rPr lang="en-US" altLang="ko-KR" dirty="0"/>
              <a:t>.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sMHIS </a:t>
            </a:r>
            <a:r>
              <a:rPr lang="ko-KR" altLang="en-US" dirty="0"/>
              <a:t>기능</a:t>
            </a:r>
            <a:r>
              <a:rPr lang="en-US" altLang="ko-KR" dirty="0"/>
              <a:t>(2015</a:t>
            </a:r>
            <a:r>
              <a:rPr lang="ko-KR" altLang="en-US" dirty="0"/>
              <a:t>년 메뉴 기준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344488" y="1952797"/>
            <a:ext cx="9217026" cy="2200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6.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통계 및 지표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576931" y="2224661"/>
            <a:ext cx="2063303" cy="1471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회원관리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22" name="꺾인 연결선 221"/>
          <p:cNvCxnSpPr>
            <a:endCxn id="221" idx="1"/>
          </p:cNvCxnSpPr>
          <p:nvPr/>
        </p:nvCxnSpPr>
        <p:spPr bwMode="auto">
          <a:xfrm rot="16200000" flipH="1">
            <a:off x="428202" y="2149507"/>
            <a:ext cx="131312" cy="16614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3" name="직사각형 222"/>
          <p:cNvSpPr/>
          <p:nvPr/>
        </p:nvSpPr>
        <p:spPr>
          <a:xfrm>
            <a:off x="858170" y="24236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회원현황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24" name="꺾인 연결선 223"/>
          <p:cNvCxnSpPr>
            <a:endCxn id="223" idx="1"/>
          </p:cNvCxnSpPr>
          <p:nvPr/>
        </p:nvCxnSpPr>
        <p:spPr bwMode="auto">
          <a:xfrm rot="16200000" flipH="1">
            <a:off x="679966" y="2319046"/>
            <a:ext cx="174196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5" name="직사각형 224"/>
          <p:cNvSpPr/>
          <p:nvPr/>
        </p:nvSpPr>
        <p:spPr>
          <a:xfrm>
            <a:off x="858170" y="262268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회원리스트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26" name="꺾인 연결선 225"/>
          <p:cNvCxnSpPr>
            <a:endCxn id="225" idx="1"/>
          </p:cNvCxnSpPr>
          <p:nvPr/>
        </p:nvCxnSpPr>
        <p:spPr bwMode="auto">
          <a:xfrm rot="16200000" flipH="1">
            <a:off x="606482" y="2444574"/>
            <a:ext cx="321165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7" name="직사각형 226"/>
          <p:cNvSpPr/>
          <p:nvPr/>
        </p:nvSpPr>
        <p:spPr>
          <a:xfrm>
            <a:off x="858170" y="2821700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6.1.3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퇴록사유현황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28" name="꺾인 연결선 227"/>
          <p:cNvCxnSpPr>
            <a:endCxn id="227" idx="1"/>
          </p:cNvCxnSpPr>
          <p:nvPr/>
        </p:nvCxnSpPr>
        <p:spPr bwMode="auto">
          <a:xfrm rot="16200000" flipH="1">
            <a:off x="611064" y="2648170"/>
            <a:ext cx="312001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9" name="직사각형 228"/>
          <p:cNvSpPr/>
          <p:nvPr/>
        </p:nvSpPr>
        <p:spPr>
          <a:xfrm>
            <a:off x="858170" y="3020713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등록대장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30" name="꺾인 연결선 229"/>
          <p:cNvCxnSpPr>
            <a:endCxn id="229" idx="1"/>
          </p:cNvCxnSpPr>
          <p:nvPr/>
        </p:nvCxnSpPr>
        <p:spPr bwMode="auto">
          <a:xfrm rot="16200000" flipH="1">
            <a:off x="622485" y="2858603"/>
            <a:ext cx="289160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1" name="직사각형 230"/>
          <p:cNvSpPr/>
          <p:nvPr/>
        </p:nvSpPr>
        <p:spPr>
          <a:xfrm>
            <a:off x="858170" y="3219726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6.1.5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퇴록대장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32" name="꺾인 연결선 231"/>
          <p:cNvCxnSpPr>
            <a:endCxn id="231" idx="1"/>
          </p:cNvCxnSpPr>
          <p:nvPr/>
        </p:nvCxnSpPr>
        <p:spPr bwMode="auto">
          <a:xfrm rot="16200000" flipH="1">
            <a:off x="627066" y="3062197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3" name="직사각형 232"/>
          <p:cNvSpPr/>
          <p:nvPr/>
        </p:nvSpPr>
        <p:spPr>
          <a:xfrm>
            <a:off x="858170" y="341597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6.1.6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사망원인별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34" name="꺾인 연결선 233"/>
          <p:cNvCxnSpPr>
            <a:endCxn id="233" idx="1"/>
          </p:cNvCxnSpPr>
          <p:nvPr/>
        </p:nvCxnSpPr>
        <p:spPr bwMode="auto">
          <a:xfrm rot="16200000" flipH="1">
            <a:off x="652211" y="3283588"/>
            <a:ext cx="229707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5" name="직사각형 234"/>
          <p:cNvSpPr/>
          <p:nvPr/>
        </p:nvSpPr>
        <p:spPr>
          <a:xfrm>
            <a:off x="858170" y="361498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6.1.7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사망원인별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대장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36" name="꺾인 연결선 235"/>
          <p:cNvCxnSpPr>
            <a:endCxn id="235" idx="1"/>
          </p:cNvCxnSpPr>
          <p:nvPr/>
        </p:nvCxnSpPr>
        <p:spPr bwMode="auto">
          <a:xfrm rot="16200000" flipH="1">
            <a:off x="606482" y="3436871"/>
            <a:ext cx="321165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7" name="직사각형 236"/>
          <p:cNvSpPr/>
          <p:nvPr/>
        </p:nvSpPr>
        <p:spPr>
          <a:xfrm>
            <a:off x="858170" y="381399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6.1.8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등록카드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38" name="꺾인 연결선 237"/>
          <p:cNvCxnSpPr>
            <a:endCxn id="237" idx="1"/>
          </p:cNvCxnSpPr>
          <p:nvPr/>
        </p:nvCxnSpPr>
        <p:spPr bwMode="auto">
          <a:xfrm rot="16200000" flipH="1">
            <a:off x="611064" y="3640467"/>
            <a:ext cx="312001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9" name="직사각형 238"/>
          <p:cNvSpPr/>
          <p:nvPr/>
        </p:nvSpPr>
        <p:spPr>
          <a:xfrm>
            <a:off x="858170" y="4013010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파악관리대상자리스트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40" name="꺾인 연결선 239"/>
          <p:cNvCxnSpPr>
            <a:endCxn id="239" idx="1"/>
          </p:cNvCxnSpPr>
          <p:nvPr/>
        </p:nvCxnSpPr>
        <p:spPr bwMode="auto">
          <a:xfrm rot="16200000" flipH="1">
            <a:off x="622485" y="3850900"/>
            <a:ext cx="289160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1" name="직사각형 240"/>
          <p:cNvSpPr/>
          <p:nvPr/>
        </p:nvSpPr>
        <p:spPr>
          <a:xfrm>
            <a:off x="858170" y="4212023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6.1.10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사례관리자별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회원리스트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42" name="꺾인 연결선 241"/>
          <p:cNvCxnSpPr>
            <a:endCxn id="241" idx="1"/>
          </p:cNvCxnSpPr>
          <p:nvPr/>
        </p:nvCxnSpPr>
        <p:spPr bwMode="auto">
          <a:xfrm rot="16200000" flipH="1">
            <a:off x="627066" y="4054494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3" name="직사각형 242"/>
          <p:cNvSpPr/>
          <p:nvPr/>
        </p:nvSpPr>
        <p:spPr>
          <a:xfrm>
            <a:off x="858170" y="441396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6.1.11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진단별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44" name="직사각형 243"/>
          <p:cNvSpPr/>
          <p:nvPr/>
        </p:nvSpPr>
        <p:spPr>
          <a:xfrm>
            <a:off x="858170" y="46129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6.1.12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연령별 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45" name="꺾인 연결선 244"/>
          <p:cNvCxnSpPr>
            <a:endCxn id="244" idx="1"/>
          </p:cNvCxnSpPr>
          <p:nvPr/>
        </p:nvCxnSpPr>
        <p:spPr bwMode="auto">
          <a:xfrm rot="16200000" flipH="1">
            <a:off x="627066" y="4455445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6" name="꺾인 연결선 245"/>
          <p:cNvCxnSpPr>
            <a:endCxn id="243" idx="1"/>
          </p:cNvCxnSpPr>
          <p:nvPr/>
        </p:nvCxnSpPr>
        <p:spPr bwMode="auto">
          <a:xfrm rot="16200000" flipH="1">
            <a:off x="569566" y="4198933"/>
            <a:ext cx="395000" cy="18220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1" name="직사각형 180"/>
          <p:cNvSpPr/>
          <p:nvPr/>
        </p:nvSpPr>
        <p:spPr>
          <a:xfrm>
            <a:off x="2913284" y="2224661"/>
            <a:ext cx="2063303" cy="1471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6.2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접수상담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82" name="꺾인 연결선 181"/>
          <p:cNvCxnSpPr>
            <a:endCxn id="181" idx="1"/>
          </p:cNvCxnSpPr>
          <p:nvPr/>
        </p:nvCxnSpPr>
        <p:spPr bwMode="auto">
          <a:xfrm rot="16200000" flipH="1">
            <a:off x="2764554" y="2149507"/>
            <a:ext cx="131312" cy="166146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3" name="직사각형 182"/>
          <p:cNvSpPr/>
          <p:nvPr/>
        </p:nvSpPr>
        <p:spPr>
          <a:xfrm>
            <a:off x="3194523" y="24236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접수상담대장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84" name="꺾인 연결선 183"/>
          <p:cNvCxnSpPr>
            <a:endCxn id="183" idx="1"/>
          </p:cNvCxnSpPr>
          <p:nvPr/>
        </p:nvCxnSpPr>
        <p:spPr bwMode="auto">
          <a:xfrm rot="16200000" flipH="1">
            <a:off x="3016318" y="2319046"/>
            <a:ext cx="174196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5" name="직사각형 184"/>
          <p:cNvSpPr/>
          <p:nvPr/>
        </p:nvSpPr>
        <p:spPr>
          <a:xfrm>
            <a:off x="3194523" y="262268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6.2.2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정보제공자별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86" name="꺾인 연결선 185"/>
          <p:cNvCxnSpPr>
            <a:endCxn id="185" idx="1"/>
          </p:cNvCxnSpPr>
          <p:nvPr/>
        </p:nvCxnSpPr>
        <p:spPr bwMode="auto">
          <a:xfrm rot="16200000" flipH="1">
            <a:off x="2942834" y="2444574"/>
            <a:ext cx="321165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7" name="직사각형 186"/>
          <p:cNvSpPr/>
          <p:nvPr/>
        </p:nvSpPr>
        <p:spPr>
          <a:xfrm>
            <a:off x="3194523" y="2821700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6.2.3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기관종사자별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88" name="꺾인 연결선 187"/>
          <p:cNvCxnSpPr>
            <a:endCxn id="187" idx="1"/>
          </p:cNvCxnSpPr>
          <p:nvPr/>
        </p:nvCxnSpPr>
        <p:spPr bwMode="auto">
          <a:xfrm rot="16200000" flipH="1">
            <a:off x="2947416" y="2648170"/>
            <a:ext cx="312001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9" name="직사각형 188"/>
          <p:cNvSpPr/>
          <p:nvPr/>
        </p:nvSpPr>
        <p:spPr>
          <a:xfrm>
            <a:off x="3194523" y="3020713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6.2.4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정보취득경로별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90" name="꺾인 연결선 189"/>
          <p:cNvCxnSpPr>
            <a:endCxn id="189" idx="1"/>
          </p:cNvCxnSpPr>
          <p:nvPr/>
        </p:nvCxnSpPr>
        <p:spPr bwMode="auto">
          <a:xfrm rot="16200000" flipH="1">
            <a:off x="2958837" y="2858603"/>
            <a:ext cx="289160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1" name="직사각형 190"/>
          <p:cNvSpPr/>
          <p:nvPr/>
        </p:nvSpPr>
        <p:spPr>
          <a:xfrm>
            <a:off x="3194523" y="3219726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6.2.5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문제종류별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92" name="꺾인 연결선 191"/>
          <p:cNvCxnSpPr>
            <a:endCxn id="191" idx="1"/>
          </p:cNvCxnSpPr>
          <p:nvPr/>
        </p:nvCxnSpPr>
        <p:spPr bwMode="auto">
          <a:xfrm rot="16200000" flipH="1">
            <a:off x="2963418" y="3062197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3" name="직사각형 192"/>
          <p:cNvSpPr/>
          <p:nvPr/>
        </p:nvSpPr>
        <p:spPr>
          <a:xfrm>
            <a:off x="3194523" y="341597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6.2.6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문제종류별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자살상담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</a:p>
        </p:txBody>
      </p:sp>
      <p:cxnSp>
        <p:nvCxnSpPr>
          <p:cNvPr id="194" name="꺾인 연결선 193"/>
          <p:cNvCxnSpPr>
            <a:endCxn id="193" idx="1"/>
          </p:cNvCxnSpPr>
          <p:nvPr/>
        </p:nvCxnSpPr>
        <p:spPr bwMode="auto">
          <a:xfrm rot="16200000" flipH="1">
            <a:off x="2988563" y="3283587"/>
            <a:ext cx="229707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5" name="직사각형 194"/>
          <p:cNvSpPr/>
          <p:nvPr/>
        </p:nvSpPr>
        <p:spPr>
          <a:xfrm>
            <a:off x="3194523" y="361498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6.2.7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자살세부항목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</a:p>
        </p:txBody>
      </p:sp>
      <p:cxnSp>
        <p:nvCxnSpPr>
          <p:cNvPr id="196" name="꺾인 연결선 195"/>
          <p:cNvCxnSpPr>
            <a:endCxn id="195" idx="1"/>
          </p:cNvCxnSpPr>
          <p:nvPr/>
        </p:nvCxnSpPr>
        <p:spPr bwMode="auto">
          <a:xfrm rot="16200000" flipH="1">
            <a:off x="2942834" y="3436871"/>
            <a:ext cx="321165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7" name="직사각형 196"/>
          <p:cNvSpPr/>
          <p:nvPr/>
        </p:nvSpPr>
        <p:spPr>
          <a:xfrm>
            <a:off x="3194523" y="381399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6.2.8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정신건강문제종류별 실적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성인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98" name="꺾인 연결선 197"/>
          <p:cNvCxnSpPr>
            <a:endCxn id="197" idx="1"/>
          </p:cNvCxnSpPr>
          <p:nvPr/>
        </p:nvCxnSpPr>
        <p:spPr bwMode="auto">
          <a:xfrm rot="16200000" flipH="1">
            <a:off x="2947416" y="3640467"/>
            <a:ext cx="312001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9" name="직사각형 198"/>
          <p:cNvSpPr/>
          <p:nvPr/>
        </p:nvSpPr>
        <p:spPr>
          <a:xfrm>
            <a:off x="3194523" y="4013010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정신건강문제종류별 실적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아동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00" name="꺾인 연결선 199"/>
          <p:cNvCxnSpPr>
            <a:endCxn id="199" idx="1"/>
          </p:cNvCxnSpPr>
          <p:nvPr/>
        </p:nvCxnSpPr>
        <p:spPr bwMode="auto">
          <a:xfrm rot="16200000" flipH="1">
            <a:off x="2958837" y="3850900"/>
            <a:ext cx="289160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1" name="직사각형 200"/>
          <p:cNvSpPr/>
          <p:nvPr/>
        </p:nvSpPr>
        <p:spPr>
          <a:xfrm>
            <a:off x="3194523" y="4212023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6.2.10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상담유형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</a:p>
        </p:txBody>
      </p:sp>
      <p:cxnSp>
        <p:nvCxnSpPr>
          <p:cNvPr id="202" name="꺾인 연결선 201"/>
          <p:cNvCxnSpPr>
            <a:endCxn id="201" idx="1"/>
          </p:cNvCxnSpPr>
          <p:nvPr/>
        </p:nvCxnSpPr>
        <p:spPr bwMode="auto">
          <a:xfrm rot="16200000" flipH="1">
            <a:off x="2963418" y="4054494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3" name="직사각형 202"/>
          <p:cNvSpPr/>
          <p:nvPr/>
        </p:nvSpPr>
        <p:spPr>
          <a:xfrm>
            <a:off x="3194523" y="441396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상담이력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</a:p>
        </p:txBody>
      </p:sp>
      <p:sp>
        <p:nvSpPr>
          <p:cNvPr id="204" name="직사각형 203"/>
          <p:cNvSpPr/>
          <p:nvPr/>
        </p:nvSpPr>
        <p:spPr>
          <a:xfrm>
            <a:off x="3194523" y="46129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주요조치분류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</a:p>
        </p:txBody>
      </p:sp>
      <p:cxnSp>
        <p:nvCxnSpPr>
          <p:cNvPr id="205" name="꺾인 연결선 204"/>
          <p:cNvCxnSpPr>
            <a:endCxn id="204" idx="1"/>
          </p:cNvCxnSpPr>
          <p:nvPr/>
        </p:nvCxnSpPr>
        <p:spPr bwMode="auto">
          <a:xfrm rot="16200000" flipH="1">
            <a:off x="2963418" y="4455445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6" name="꺾인 연결선 205"/>
          <p:cNvCxnSpPr>
            <a:endCxn id="203" idx="1"/>
          </p:cNvCxnSpPr>
          <p:nvPr/>
        </p:nvCxnSpPr>
        <p:spPr bwMode="auto">
          <a:xfrm rot="16200000" flipH="1">
            <a:off x="2905918" y="4198933"/>
            <a:ext cx="395000" cy="18220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7" name="직사각형 206"/>
          <p:cNvSpPr/>
          <p:nvPr/>
        </p:nvSpPr>
        <p:spPr>
          <a:xfrm>
            <a:off x="3194523" y="4821148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6.2.13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등록전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사정평가 실적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사업별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3194523" y="502016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응급성실적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09" name="꺾인 연결선 208"/>
          <p:cNvCxnSpPr>
            <a:endCxn id="208" idx="1"/>
          </p:cNvCxnSpPr>
          <p:nvPr/>
        </p:nvCxnSpPr>
        <p:spPr bwMode="auto">
          <a:xfrm rot="16200000" flipH="1">
            <a:off x="2947416" y="4846632"/>
            <a:ext cx="312001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0" name="직사각형 209"/>
          <p:cNvSpPr/>
          <p:nvPr/>
        </p:nvSpPr>
        <p:spPr>
          <a:xfrm>
            <a:off x="3194523" y="52191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6.2.15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등록형태실적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11" name="꺾인 연결선 210"/>
          <p:cNvCxnSpPr>
            <a:endCxn id="210" idx="1"/>
          </p:cNvCxnSpPr>
          <p:nvPr/>
        </p:nvCxnSpPr>
        <p:spPr bwMode="auto">
          <a:xfrm rot="16200000" flipH="1">
            <a:off x="2958837" y="5057065"/>
            <a:ext cx="289160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2" name="직사각형 211"/>
          <p:cNvSpPr/>
          <p:nvPr/>
        </p:nvSpPr>
        <p:spPr>
          <a:xfrm>
            <a:off x="3194523" y="541818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6.2.16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위기분류척도실적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13" name="꺾인 연결선 212"/>
          <p:cNvCxnSpPr>
            <a:endCxn id="212" idx="1"/>
          </p:cNvCxnSpPr>
          <p:nvPr/>
        </p:nvCxnSpPr>
        <p:spPr bwMode="auto">
          <a:xfrm rot="16200000" flipH="1">
            <a:off x="2963418" y="5260658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4" name="직사각형 213"/>
          <p:cNvSpPr/>
          <p:nvPr/>
        </p:nvSpPr>
        <p:spPr>
          <a:xfrm>
            <a:off x="3194523" y="5620125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6.2.17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연령별 상담현황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3194523" y="5819138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6.2.18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연계처리현황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리스트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+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건수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16" name="꺾인 연결선 215"/>
          <p:cNvCxnSpPr>
            <a:endCxn id="215" idx="1"/>
          </p:cNvCxnSpPr>
          <p:nvPr/>
        </p:nvCxnSpPr>
        <p:spPr bwMode="auto">
          <a:xfrm rot="16200000" flipH="1">
            <a:off x="2963418" y="5661610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7" name="꺾인 연결선 216"/>
          <p:cNvCxnSpPr>
            <a:endCxn id="214" idx="1"/>
          </p:cNvCxnSpPr>
          <p:nvPr/>
        </p:nvCxnSpPr>
        <p:spPr bwMode="auto">
          <a:xfrm rot="16200000" flipH="1">
            <a:off x="2905918" y="5405097"/>
            <a:ext cx="395000" cy="18220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8" name="꺾인 연결선 217"/>
          <p:cNvCxnSpPr>
            <a:endCxn id="207" idx="1"/>
          </p:cNvCxnSpPr>
          <p:nvPr/>
        </p:nvCxnSpPr>
        <p:spPr bwMode="auto">
          <a:xfrm rot="16200000" flipH="1">
            <a:off x="2910499" y="4610701"/>
            <a:ext cx="385838" cy="18220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9" name="직사각형 218"/>
          <p:cNvSpPr/>
          <p:nvPr/>
        </p:nvSpPr>
        <p:spPr>
          <a:xfrm>
            <a:off x="3194523" y="601815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6.2.19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의뢰접수현황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리스트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+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건수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20" name="꺾인 연결선 219"/>
          <p:cNvCxnSpPr>
            <a:endCxn id="219" idx="1"/>
          </p:cNvCxnSpPr>
          <p:nvPr/>
        </p:nvCxnSpPr>
        <p:spPr bwMode="auto">
          <a:xfrm rot="16200000" flipH="1">
            <a:off x="2963418" y="5860622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7" name="직사각형 126"/>
          <p:cNvSpPr/>
          <p:nvPr/>
        </p:nvSpPr>
        <p:spPr>
          <a:xfrm>
            <a:off x="5233574" y="2224662"/>
            <a:ext cx="4327940" cy="1471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6.3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직접서비스 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(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사정평가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)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28" name="꺾인 연결선 127"/>
          <p:cNvCxnSpPr>
            <a:endCxn id="127" idx="1"/>
          </p:cNvCxnSpPr>
          <p:nvPr/>
        </p:nvCxnSpPr>
        <p:spPr bwMode="auto">
          <a:xfrm rot="16200000" flipH="1">
            <a:off x="5084843" y="2149507"/>
            <a:ext cx="131313" cy="16614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9" name="직사각형 128"/>
          <p:cNvSpPr/>
          <p:nvPr/>
        </p:nvSpPr>
        <p:spPr>
          <a:xfrm>
            <a:off x="5514813" y="24236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200" dirty="0">
                <a:solidFill>
                  <a:prstClr val="black"/>
                </a:solidFill>
                <a:latin typeface="맑은 고딕"/>
              </a:rPr>
              <a:t>6.3.1 </a:t>
            </a:r>
            <a:r>
              <a:rPr kumimoji="1" lang="ko-KR" altLang="en-US" sz="900" spc="-200" dirty="0">
                <a:solidFill>
                  <a:prstClr val="black"/>
                </a:solidFill>
                <a:latin typeface="맑은 고딕"/>
              </a:rPr>
              <a:t>정신장애 등급별 의료보장형태 현황</a:t>
            </a:r>
            <a:endParaRPr kumimoji="1" lang="ko-KR" altLang="en-US" sz="900" spc="-2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30" name="꺾인 연결선 129"/>
          <p:cNvCxnSpPr>
            <a:endCxn id="129" idx="1"/>
          </p:cNvCxnSpPr>
          <p:nvPr/>
        </p:nvCxnSpPr>
        <p:spPr bwMode="auto">
          <a:xfrm rot="16200000" flipH="1">
            <a:off x="5336609" y="2319046"/>
            <a:ext cx="174196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1" name="직사각형 130"/>
          <p:cNvSpPr/>
          <p:nvPr/>
        </p:nvSpPr>
        <p:spPr>
          <a:xfrm>
            <a:off x="5514813" y="262268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6.3.2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자살시도력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32" name="꺾인 연결선 131"/>
          <p:cNvCxnSpPr>
            <a:endCxn id="131" idx="1"/>
          </p:cNvCxnSpPr>
          <p:nvPr/>
        </p:nvCxnSpPr>
        <p:spPr bwMode="auto">
          <a:xfrm rot="16200000" flipH="1">
            <a:off x="5263125" y="2444575"/>
            <a:ext cx="321165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3" name="직사각형 132"/>
          <p:cNvSpPr/>
          <p:nvPr/>
        </p:nvSpPr>
        <p:spPr>
          <a:xfrm>
            <a:off x="5514813" y="2821700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6.3.3 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자살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문제유형별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34" name="꺾인 연결선 133"/>
          <p:cNvCxnSpPr>
            <a:endCxn id="133" idx="1"/>
          </p:cNvCxnSpPr>
          <p:nvPr/>
        </p:nvCxnSpPr>
        <p:spPr bwMode="auto">
          <a:xfrm rot="16200000" flipH="1">
            <a:off x="5267707" y="2648171"/>
            <a:ext cx="312001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5" name="직사각형 134"/>
          <p:cNvSpPr/>
          <p:nvPr/>
        </p:nvSpPr>
        <p:spPr>
          <a:xfrm>
            <a:off x="5514813" y="3020713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자살시도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방법별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36" name="꺾인 연결선 135"/>
          <p:cNvCxnSpPr>
            <a:endCxn id="135" idx="1"/>
          </p:cNvCxnSpPr>
          <p:nvPr/>
        </p:nvCxnSpPr>
        <p:spPr bwMode="auto">
          <a:xfrm rot="16200000" flipH="1">
            <a:off x="5279128" y="2858604"/>
            <a:ext cx="289160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7" name="직사각형 136"/>
          <p:cNvSpPr/>
          <p:nvPr/>
        </p:nvSpPr>
        <p:spPr>
          <a:xfrm>
            <a:off x="5514813" y="3219726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6.3.5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신체질환별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38" name="꺾인 연결선 137"/>
          <p:cNvCxnSpPr>
            <a:endCxn id="137" idx="1"/>
          </p:cNvCxnSpPr>
          <p:nvPr/>
        </p:nvCxnSpPr>
        <p:spPr bwMode="auto">
          <a:xfrm rot="16200000" flipH="1">
            <a:off x="5283709" y="3062197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9" name="직사각형 138"/>
          <p:cNvSpPr/>
          <p:nvPr/>
        </p:nvSpPr>
        <p:spPr>
          <a:xfrm>
            <a:off x="5514813" y="341597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6.3.6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입원력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-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현재 입원중인 환자 </a:t>
            </a:r>
            <a:r>
              <a:rPr kumimoji="1" lang="en-US" altLang="ko-KR" sz="900" spc="-100" dirty="0" err="1">
                <a:solidFill>
                  <a:prstClr val="black"/>
                </a:solidFill>
                <a:latin typeface="맑은 고딕"/>
              </a:rPr>
              <a:t>LIst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40" name="꺾인 연결선 139"/>
          <p:cNvCxnSpPr>
            <a:endCxn id="139" idx="1"/>
          </p:cNvCxnSpPr>
          <p:nvPr/>
        </p:nvCxnSpPr>
        <p:spPr bwMode="auto">
          <a:xfrm rot="16200000" flipH="1">
            <a:off x="5308854" y="3283588"/>
            <a:ext cx="229707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1" name="직사각형 140"/>
          <p:cNvSpPr/>
          <p:nvPr/>
        </p:nvSpPr>
        <p:spPr>
          <a:xfrm>
            <a:off x="5514813" y="361498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6.3.7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입원력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-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기간별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42" name="꺾인 연결선 141"/>
          <p:cNvCxnSpPr>
            <a:endCxn id="141" idx="1"/>
          </p:cNvCxnSpPr>
          <p:nvPr/>
        </p:nvCxnSpPr>
        <p:spPr bwMode="auto">
          <a:xfrm rot="16200000" flipH="1">
            <a:off x="5263125" y="3436871"/>
            <a:ext cx="321165" cy="18221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3" name="직사각형 142"/>
          <p:cNvSpPr/>
          <p:nvPr/>
        </p:nvSpPr>
        <p:spPr>
          <a:xfrm>
            <a:off x="5514813" y="381399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6.3.8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입원별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-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유형별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44" name="꺾인 연결선 143"/>
          <p:cNvCxnSpPr>
            <a:endCxn id="143" idx="1"/>
          </p:cNvCxnSpPr>
          <p:nvPr/>
        </p:nvCxnSpPr>
        <p:spPr bwMode="auto">
          <a:xfrm rot="16200000" flipH="1">
            <a:off x="5267707" y="3640467"/>
            <a:ext cx="312001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5" name="직사각형 144"/>
          <p:cNvSpPr/>
          <p:nvPr/>
        </p:nvSpPr>
        <p:spPr>
          <a:xfrm>
            <a:off x="5514813" y="4013010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중독현황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리스트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+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건수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46" name="꺾인 연결선 145"/>
          <p:cNvCxnSpPr>
            <a:endCxn id="145" idx="1"/>
          </p:cNvCxnSpPr>
          <p:nvPr/>
        </p:nvCxnSpPr>
        <p:spPr bwMode="auto">
          <a:xfrm rot="16200000" flipH="1">
            <a:off x="5279128" y="3850900"/>
            <a:ext cx="289160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7" name="직사각형 146"/>
          <p:cNvSpPr/>
          <p:nvPr/>
        </p:nvSpPr>
        <p:spPr>
          <a:xfrm>
            <a:off x="5514813" y="4212022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6.3.10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지역사회정신보건서비스 이용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48" name="꺾인 연결선 147"/>
          <p:cNvCxnSpPr>
            <a:endCxn id="147" idx="1"/>
          </p:cNvCxnSpPr>
          <p:nvPr/>
        </p:nvCxnSpPr>
        <p:spPr bwMode="auto">
          <a:xfrm rot="16200000" flipH="1">
            <a:off x="5283709" y="4054494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9" name="직사각형 148"/>
          <p:cNvSpPr/>
          <p:nvPr/>
        </p:nvSpPr>
        <p:spPr>
          <a:xfrm>
            <a:off x="5514813" y="441396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6.3.11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직업력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-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현재 취업중인 회원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List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5514813" y="46129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6.3.12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직업력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-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기간별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51" name="꺾인 연결선 150"/>
          <p:cNvCxnSpPr>
            <a:endCxn id="150" idx="1"/>
          </p:cNvCxnSpPr>
          <p:nvPr/>
        </p:nvCxnSpPr>
        <p:spPr bwMode="auto">
          <a:xfrm rot="16200000" flipH="1">
            <a:off x="5283709" y="4455445"/>
            <a:ext cx="279999" cy="182211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2" name="꺾인 연결선 151"/>
          <p:cNvCxnSpPr>
            <a:endCxn id="149" idx="1"/>
          </p:cNvCxnSpPr>
          <p:nvPr/>
        </p:nvCxnSpPr>
        <p:spPr bwMode="auto">
          <a:xfrm rot="16200000" flipH="1">
            <a:off x="5226209" y="4198933"/>
            <a:ext cx="395000" cy="18220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3" name="직사각형 152"/>
          <p:cNvSpPr/>
          <p:nvPr/>
        </p:nvSpPr>
        <p:spPr>
          <a:xfrm>
            <a:off x="5514813" y="4821148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6.3.13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인적정보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54" name="꺾인 연결선 153"/>
          <p:cNvCxnSpPr>
            <a:endCxn id="153" idx="1"/>
          </p:cNvCxnSpPr>
          <p:nvPr/>
        </p:nvCxnSpPr>
        <p:spPr bwMode="auto">
          <a:xfrm rot="16200000" flipH="1">
            <a:off x="5230790" y="4610701"/>
            <a:ext cx="385838" cy="182209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5" name="직사각형 154"/>
          <p:cNvSpPr/>
          <p:nvPr/>
        </p:nvSpPr>
        <p:spPr>
          <a:xfrm>
            <a:off x="7779450" y="24236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자살예방사업대상자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56" name="꺾인 연결선 155"/>
          <p:cNvCxnSpPr>
            <a:endCxn id="155" idx="1"/>
          </p:cNvCxnSpPr>
          <p:nvPr/>
        </p:nvCxnSpPr>
        <p:spPr bwMode="auto">
          <a:xfrm rot="16200000" flipH="1">
            <a:off x="7589659" y="2307460"/>
            <a:ext cx="174197" cy="205385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7" name="직사각형 156"/>
          <p:cNvSpPr/>
          <p:nvPr/>
        </p:nvSpPr>
        <p:spPr>
          <a:xfrm>
            <a:off x="7779450" y="262268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6.3.15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중독단기개입대상자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58" name="꺾인 연결선 157"/>
          <p:cNvCxnSpPr>
            <a:endCxn id="157" idx="1"/>
          </p:cNvCxnSpPr>
          <p:nvPr/>
        </p:nvCxnSpPr>
        <p:spPr bwMode="auto">
          <a:xfrm rot="16200000" flipH="1">
            <a:off x="7516174" y="2432988"/>
            <a:ext cx="321166" cy="205385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9" name="직사각형 158"/>
          <p:cNvSpPr/>
          <p:nvPr/>
        </p:nvSpPr>
        <p:spPr>
          <a:xfrm>
            <a:off x="7779450" y="2821700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6.3.16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유족사업대상자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60" name="꺾인 연결선 159"/>
          <p:cNvCxnSpPr>
            <a:endCxn id="159" idx="1"/>
          </p:cNvCxnSpPr>
          <p:nvPr/>
        </p:nvCxnSpPr>
        <p:spPr bwMode="auto">
          <a:xfrm rot="16200000" flipH="1">
            <a:off x="7520758" y="2636584"/>
            <a:ext cx="312001" cy="205385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1" name="직사각형 160"/>
          <p:cNvSpPr/>
          <p:nvPr/>
        </p:nvSpPr>
        <p:spPr>
          <a:xfrm>
            <a:off x="7779450" y="3020713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6.3.17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결혼여부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62" name="꺾인 연결선 161"/>
          <p:cNvCxnSpPr>
            <a:endCxn id="161" idx="1"/>
          </p:cNvCxnSpPr>
          <p:nvPr/>
        </p:nvCxnSpPr>
        <p:spPr bwMode="auto">
          <a:xfrm rot="16200000" flipH="1">
            <a:off x="7532178" y="2847017"/>
            <a:ext cx="289160" cy="205384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3" name="직사각형 162"/>
          <p:cNvSpPr/>
          <p:nvPr/>
        </p:nvSpPr>
        <p:spPr>
          <a:xfrm>
            <a:off x="7779450" y="3219726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6.3.18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가족형태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64" name="꺾인 연결선 163"/>
          <p:cNvCxnSpPr>
            <a:endCxn id="163" idx="1"/>
          </p:cNvCxnSpPr>
          <p:nvPr/>
        </p:nvCxnSpPr>
        <p:spPr bwMode="auto">
          <a:xfrm rot="16200000" flipH="1">
            <a:off x="7536758" y="3050610"/>
            <a:ext cx="279999" cy="205384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5" name="직사각형 164"/>
          <p:cNvSpPr/>
          <p:nvPr/>
        </p:nvSpPr>
        <p:spPr>
          <a:xfrm>
            <a:off x="7779450" y="341597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6.3.19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의뢰경로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66" name="꺾인 연결선 165"/>
          <p:cNvCxnSpPr>
            <a:endCxn id="165" idx="1"/>
          </p:cNvCxnSpPr>
          <p:nvPr/>
        </p:nvCxnSpPr>
        <p:spPr bwMode="auto">
          <a:xfrm rot="16200000" flipH="1">
            <a:off x="7561903" y="3272001"/>
            <a:ext cx="229708" cy="205385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7" name="직사각형 166"/>
          <p:cNvSpPr/>
          <p:nvPr/>
        </p:nvSpPr>
        <p:spPr>
          <a:xfrm>
            <a:off x="7779450" y="361498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6.3.20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가족력 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68" name="꺾인 연결선 167"/>
          <p:cNvCxnSpPr>
            <a:endCxn id="167" idx="1"/>
          </p:cNvCxnSpPr>
          <p:nvPr/>
        </p:nvCxnSpPr>
        <p:spPr bwMode="auto">
          <a:xfrm rot="16200000" flipH="1">
            <a:off x="7516174" y="3425285"/>
            <a:ext cx="321166" cy="205385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9" name="직사각형 168"/>
          <p:cNvSpPr/>
          <p:nvPr/>
        </p:nvSpPr>
        <p:spPr>
          <a:xfrm>
            <a:off x="7779450" y="3813997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6.3.21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고인의 일반정보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70" name="꺾인 연결선 169"/>
          <p:cNvCxnSpPr>
            <a:endCxn id="169" idx="1"/>
          </p:cNvCxnSpPr>
          <p:nvPr/>
        </p:nvCxnSpPr>
        <p:spPr bwMode="auto">
          <a:xfrm rot="16200000" flipH="1">
            <a:off x="7520758" y="3628880"/>
            <a:ext cx="312001" cy="205385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1" name="직사각형 170"/>
          <p:cNvSpPr/>
          <p:nvPr/>
        </p:nvSpPr>
        <p:spPr>
          <a:xfrm>
            <a:off x="7779450" y="4013010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6.3.22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고인의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과거력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72" name="꺾인 연결선 171"/>
          <p:cNvCxnSpPr>
            <a:endCxn id="171" idx="1"/>
          </p:cNvCxnSpPr>
          <p:nvPr/>
        </p:nvCxnSpPr>
        <p:spPr bwMode="auto">
          <a:xfrm rot="16200000" flipH="1">
            <a:off x="7532178" y="3839313"/>
            <a:ext cx="289160" cy="205384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3" name="직사각형 172"/>
          <p:cNvSpPr/>
          <p:nvPr/>
        </p:nvSpPr>
        <p:spPr>
          <a:xfrm>
            <a:off x="7779450" y="4212022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6.3.23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치료력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74" name="꺾인 연결선 173"/>
          <p:cNvCxnSpPr>
            <a:endCxn id="173" idx="1"/>
          </p:cNvCxnSpPr>
          <p:nvPr/>
        </p:nvCxnSpPr>
        <p:spPr bwMode="auto">
          <a:xfrm rot="16200000" flipH="1">
            <a:off x="7536758" y="4042907"/>
            <a:ext cx="279999" cy="205384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5" name="직사각형 174"/>
          <p:cNvSpPr/>
          <p:nvPr/>
        </p:nvSpPr>
        <p:spPr>
          <a:xfrm>
            <a:off x="7779450" y="4413961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6.3.24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치료약물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7779450" y="4612974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6.3.25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단중독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77" name="꺾인 연결선 176"/>
          <p:cNvCxnSpPr>
            <a:endCxn id="176" idx="1"/>
          </p:cNvCxnSpPr>
          <p:nvPr/>
        </p:nvCxnSpPr>
        <p:spPr bwMode="auto">
          <a:xfrm rot="16200000" flipH="1">
            <a:off x="7536758" y="4443858"/>
            <a:ext cx="279999" cy="205384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8" name="꺾인 연결선 177"/>
          <p:cNvCxnSpPr>
            <a:endCxn id="175" idx="1"/>
          </p:cNvCxnSpPr>
          <p:nvPr/>
        </p:nvCxnSpPr>
        <p:spPr bwMode="auto">
          <a:xfrm rot="16200000" flipH="1">
            <a:off x="7479259" y="4187346"/>
            <a:ext cx="395000" cy="20538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9" name="직사각형 178"/>
          <p:cNvSpPr/>
          <p:nvPr/>
        </p:nvSpPr>
        <p:spPr>
          <a:xfrm>
            <a:off x="7779450" y="4821148"/>
            <a:ext cx="1782064" cy="1471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6.3.26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직업력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180" name="꺾인 연결선 179"/>
          <p:cNvCxnSpPr>
            <a:endCxn id="179" idx="1"/>
          </p:cNvCxnSpPr>
          <p:nvPr/>
        </p:nvCxnSpPr>
        <p:spPr bwMode="auto">
          <a:xfrm rot="16200000" flipH="1">
            <a:off x="7483840" y="4599114"/>
            <a:ext cx="385838" cy="20538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6533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/>
              <a:t>sMHIS </a:t>
            </a:r>
            <a:r>
              <a:rPr lang="ko-KR" altLang="en-US" dirty="0"/>
              <a:t>통계 및 지표 메뉴 세부구성도는 아래와 같습니다</a:t>
            </a:r>
            <a:r>
              <a:rPr lang="en-US" altLang="ko-KR" dirty="0"/>
              <a:t>.  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sMHIS </a:t>
            </a:r>
            <a:r>
              <a:rPr lang="ko-KR" altLang="en-US" dirty="0"/>
              <a:t>기능</a:t>
            </a:r>
            <a:r>
              <a:rPr lang="en-US" altLang="ko-KR" dirty="0"/>
              <a:t>(2015</a:t>
            </a:r>
            <a:r>
              <a:rPr lang="ko-KR" altLang="en-US" dirty="0"/>
              <a:t>년 메뉴 기준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247" name="직사각형 246"/>
          <p:cNvSpPr/>
          <p:nvPr/>
        </p:nvSpPr>
        <p:spPr>
          <a:xfrm>
            <a:off x="344488" y="1975443"/>
            <a:ext cx="9217025" cy="2259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b="1" spc="-100" dirty="0">
                <a:solidFill>
                  <a:prstClr val="white"/>
                </a:solidFill>
                <a:latin typeface="맑은 고딕"/>
              </a:rPr>
              <a:t>6. </a:t>
            </a:r>
            <a:r>
              <a:rPr kumimoji="1" lang="ko-KR" altLang="en-US" sz="1000" b="1" spc="-100" dirty="0">
                <a:solidFill>
                  <a:prstClr val="white"/>
                </a:solidFill>
                <a:latin typeface="맑은 고딕"/>
              </a:rPr>
              <a:t>통계 및 지표</a:t>
            </a:r>
            <a:endParaRPr kumimoji="1" lang="ko-KR" altLang="en-US" sz="1000" b="1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248" name="직사각형 247"/>
          <p:cNvSpPr/>
          <p:nvPr/>
        </p:nvSpPr>
        <p:spPr>
          <a:xfrm>
            <a:off x="571638" y="2265080"/>
            <a:ext cx="2016320" cy="180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6.4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의료보장형태 현황 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(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리스트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+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건수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)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49" name="꺾인 연결선 248"/>
          <p:cNvCxnSpPr>
            <a:endCxn id="248" idx="1"/>
          </p:cNvCxnSpPr>
          <p:nvPr/>
        </p:nvCxnSpPr>
        <p:spPr bwMode="auto">
          <a:xfrm>
            <a:off x="395280" y="2194169"/>
            <a:ext cx="176358" cy="161277"/>
          </a:xfrm>
          <a:prstGeom prst="bentConnector3">
            <a:avLst>
              <a:gd name="adj1" fmla="val -891"/>
            </a:avLst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0" name="직사각형 249"/>
          <p:cNvSpPr/>
          <p:nvPr/>
        </p:nvSpPr>
        <p:spPr>
          <a:xfrm>
            <a:off x="571638" y="2513768"/>
            <a:ext cx="2016320" cy="180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6.5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정신장애등급별 현황 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(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리스트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+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건수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)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51" name="꺾인 연결선 250"/>
          <p:cNvCxnSpPr>
            <a:endCxn id="250" idx="1"/>
          </p:cNvCxnSpPr>
          <p:nvPr/>
        </p:nvCxnSpPr>
        <p:spPr bwMode="auto">
          <a:xfrm rot="16200000" flipH="1">
            <a:off x="278474" y="2310970"/>
            <a:ext cx="409968" cy="176360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2" name="꺾인 연결선 251"/>
          <p:cNvCxnSpPr>
            <a:endCxn id="254" idx="1"/>
          </p:cNvCxnSpPr>
          <p:nvPr/>
        </p:nvCxnSpPr>
        <p:spPr bwMode="auto">
          <a:xfrm rot="16200000" flipH="1">
            <a:off x="342395" y="2630572"/>
            <a:ext cx="282125" cy="176360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4" name="직사각형 253"/>
          <p:cNvSpPr/>
          <p:nvPr/>
        </p:nvSpPr>
        <p:spPr>
          <a:xfrm>
            <a:off x="571638" y="2769449"/>
            <a:ext cx="2016320" cy="180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6.6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직접서비스 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(ISP)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846472" y="3013877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6.6.1 ISP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수립영역 내역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중증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56" name="꺾인 연결선 255"/>
          <p:cNvCxnSpPr>
            <a:endCxn id="255" idx="1"/>
          </p:cNvCxnSpPr>
          <p:nvPr/>
        </p:nvCxnSpPr>
        <p:spPr bwMode="auto">
          <a:xfrm rot="16200000" flipH="1">
            <a:off x="650468" y="2908238"/>
            <a:ext cx="213948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7" name="직사각형 256"/>
          <p:cNvSpPr/>
          <p:nvPr/>
        </p:nvSpPr>
        <p:spPr>
          <a:xfrm>
            <a:off x="846472" y="3258306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50" dirty="0">
                <a:solidFill>
                  <a:prstClr val="black"/>
                </a:solidFill>
                <a:latin typeface="맑은 고딕"/>
              </a:rPr>
              <a:t>6.6.2 ISP </a:t>
            </a:r>
            <a:r>
              <a:rPr kumimoji="1" lang="ko-KR" altLang="en-US" sz="900" spc="-150" dirty="0">
                <a:solidFill>
                  <a:prstClr val="black"/>
                </a:solidFill>
                <a:latin typeface="맑은 고딕"/>
              </a:rPr>
              <a:t>수립영역내역</a:t>
            </a:r>
            <a:r>
              <a:rPr kumimoji="1" lang="en-US" altLang="ko-KR" sz="900" spc="-150" dirty="0">
                <a:solidFill>
                  <a:prstClr val="black"/>
                </a:solidFill>
                <a:latin typeface="맑은 고딕"/>
              </a:rPr>
              <a:t> (</a:t>
            </a:r>
            <a:r>
              <a:rPr kumimoji="1" lang="ko-KR" altLang="en-US" sz="900" spc="-150" dirty="0">
                <a:solidFill>
                  <a:prstClr val="black"/>
                </a:solidFill>
                <a:latin typeface="맑은 고딕"/>
              </a:rPr>
              <a:t>중증</a:t>
            </a:r>
            <a:r>
              <a:rPr kumimoji="1" lang="en-US" altLang="ko-KR" sz="900" spc="-150" dirty="0">
                <a:solidFill>
                  <a:prstClr val="black"/>
                </a:solidFill>
                <a:latin typeface="맑은 고딕"/>
              </a:rPr>
              <a:t>/</a:t>
            </a:r>
            <a:r>
              <a:rPr kumimoji="1" lang="ko-KR" altLang="en-US" sz="900" spc="-150" dirty="0">
                <a:solidFill>
                  <a:prstClr val="black"/>
                </a:solidFill>
                <a:latin typeface="맑은 고딕"/>
              </a:rPr>
              <a:t>자살평가</a:t>
            </a:r>
            <a:r>
              <a:rPr kumimoji="1" lang="en-US" altLang="ko-KR" sz="900" spc="-15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5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58" name="꺾인 연결선 257"/>
          <p:cNvCxnSpPr>
            <a:endCxn id="257" idx="1"/>
          </p:cNvCxnSpPr>
          <p:nvPr/>
        </p:nvCxnSpPr>
        <p:spPr bwMode="auto">
          <a:xfrm rot="16200000" flipH="1">
            <a:off x="560214" y="3062412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9" name="직사각형 258"/>
          <p:cNvSpPr/>
          <p:nvPr/>
        </p:nvSpPr>
        <p:spPr>
          <a:xfrm>
            <a:off x="846472" y="3502734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6.6.3 ISP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수립영역 현황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중증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60" name="꺾인 연결선 259"/>
          <p:cNvCxnSpPr>
            <a:endCxn id="259" idx="1"/>
          </p:cNvCxnSpPr>
          <p:nvPr/>
        </p:nvCxnSpPr>
        <p:spPr bwMode="auto">
          <a:xfrm rot="16200000" flipH="1">
            <a:off x="565841" y="3312469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1" name="직사각형 260"/>
          <p:cNvSpPr/>
          <p:nvPr/>
        </p:nvSpPr>
        <p:spPr>
          <a:xfrm>
            <a:off x="846472" y="3747162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6.6.4 ISP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수립영역 내역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중독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62" name="꺾인 연결선 261"/>
          <p:cNvCxnSpPr>
            <a:endCxn id="261" idx="1"/>
          </p:cNvCxnSpPr>
          <p:nvPr/>
        </p:nvCxnSpPr>
        <p:spPr bwMode="auto">
          <a:xfrm rot="16200000" flipH="1">
            <a:off x="579868" y="3570924"/>
            <a:ext cx="355148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3" name="직사각형 262"/>
          <p:cNvSpPr/>
          <p:nvPr/>
        </p:nvSpPr>
        <p:spPr>
          <a:xfrm>
            <a:off x="846472" y="3991591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6.6.5 ISP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수립영역 현황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중독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64" name="꺾인 연결선 263"/>
          <p:cNvCxnSpPr>
            <a:endCxn id="263" idx="1"/>
          </p:cNvCxnSpPr>
          <p:nvPr/>
        </p:nvCxnSpPr>
        <p:spPr bwMode="auto">
          <a:xfrm rot="16200000" flipH="1">
            <a:off x="585494" y="3820978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5" name="직사각형 264"/>
          <p:cNvSpPr/>
          <p:nvPr/>
        </p:nvSpPr>
        <p:spPr>
          <a:xfrm>
            <a:off x="846472" y="4232620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6.6.6 ISP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수립영역 내역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자살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66" name="꺾인 연결선 265"/>
          <p:cNvCxnSpPr>
            <a:endCxn id="265" idx="1"/>
          </p:cNvCxnSpPr>
          <p:nvPr/>
        </p:nvCxnSpPr>
        <p:spPr bwMode="auto">
          <a:xfrm rot="16200000" flipH="1">
            <a:off x="616379" y="4092891"/>
            <a:ext cx="282127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7" name="직사각형 266"/>
          <p:cNvSpPr/>
          <p:nvPr/>
        </p:nvSpPr>
        <p:spPr>
          <a:xfrm>
            <a:off x="846472" y="4477048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6.6.7 ISP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수립영역 현황 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(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자살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)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68" name="꺾인 연결선 267"/>
          <p:cNvCxnSpPr>
            <a:endCxn id="267" idx="1"/>
          </p:cNvCxnSpPr>
          <p:nvPr/>
        </p:nvCxnSpPr>
        <p:spPr bwMode="auto">
          <a:xfrm rot="16200000" flipH="1">
            <a:off x="560214" y="4281155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9" name="직사각형 268"/>
          <p:cNvSpPr/>
          <p:nvPr/>
        </p:nvSpPr>
        <p:spPr>
          <a:xfrm>
            <a:off x="846472" y="4735461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6.6.7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사정평가도구 현황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70" name="꺾인 연결선 269"/>
          <p:cNvCxnSpPr>
            <a:endCxn id="269" idx="1"/>
          </p:cNvCxnSpPr>
          <p:nvPr/>
        </p:nvCxnSpPr>
        <p:spPr bwMode="auto">
          <a:xfrm rot="16200000" flipH="1">
            <a:off x="565841" y="4545197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1" name="직사각형 270"/>
          <p:cNvSpPr/>
          <p:nvPr/>
        </p:nvSpPr>
        <p:spPr>
          <a:xfrm>
            <a:off x="846472" y="4979889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중증정신질환 평가도구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72" name="꺾인 연결선 271"/>
          <p:cNvCxnSpPr>
            <a:endCxn id="271" idx="1"/>
          </p:cNvCxnSpPr>
          <p:nvPr/>
        </p:nvCxnSpPr>
        <p:spPr bwMode="auto">
          <a:xfrm rot="16200000" flipH="1">
            <a:off x="579868" y="4803651"/>
            <a:ext cx="355148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3" name="직사각형 272"/>
          <p:cNvSpPr/>
          <p:nvPr/>
        </p:nvSpPr>
        <p:spPr>
          <a:xfrm>
            <a:off x="846472" y="5224318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6.6.10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아동청소년 평가도구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74" name="꺾인 연결선 273"/>
          <p:cNvCxnSpPr>
            <a:endCxn id="273" idx="1"/>
          </p:cNvCxnSpPr>
          <p:nvPr/>
        </p:nvCxnSpPr>
        <p:spPr bwMode="auto">
          <a:xfrm rot="16200000" flipH="1">
            <a:off x="585494" y="5053706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5" name="직사각형 274"/>
          <p:cNvSpPr/>
          <p:nvPr/>
        </p:nvSpPr>
        <p:spPr>
          <a:xfrm>
            <a:off x="846472" y="5465347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6.6.11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중독관리 평가도구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76" name="꺾인 연결선 275"/>
          <p:cNvCxnSpPr>
            <a:endCxn id="275" idx="1"/>
          </p:cNvCxnSpPr>
          <p:nvPr/>
        </p:nvCxnSpPr>
        <p:spPr bwMode="auto">
          <a:xfrm rot="16200000" flipH="1">
            <a:off x="616379" y="5325618"/>
            <a:ext cx="282127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7" name="직사각형 276"/>
          <p:cNvSpPr/>
          <p:nvPr/>
        </p:nvSpPr>
        <p:spPr>
          <a:xfrm>
            <a:off x="846472" y="570977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6.6.12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자살예방 평가도구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78" name="꺾인 연결선 277"/>
          <p:cNvCxnSpPr>
            <a:endCxn id="277" idx="1"/>
          </p:cNvCxnSpPr>
          <p:nvPr/>
        </p:nvCxnSpPr>
        <p:spPr bwMode="auto">
          <a:xfrm rot="16200000" flipH="1">
            <a:off x="560214" y="5513882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9" name="꺾인 연결선 278"/>
          <p:cNvCxnSpPr>
            <a:endCxn id="281" idx="1"/>
          </p:cNvCxnSpPr>
          <p:nvPr/>
        </p:nvCxnSpPr>
        <p:spPr bwMode="auto">
          <a:xfrm rot="16200000" flipH="1">
            <a:off x="2692970" y="2193625"/>
            <a:ext cx="161278" cy="1623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1" name="직사각형 280"/>
          <p:cNvSpPr/>
          <p:nvPr/>
        </p:nvSpPr>
        <p:spPr>
          <a:xfrm>
            <a:off x="2854791" y="2265080"/>
            <a:ext cx="2016320" cy="180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6.7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직접서비스 </a:t>
            </a: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(Intervention)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3129625" y="2509508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개별상담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83" name="꺾인 연결선 282"/>
          <p:cNvCxnSpPr>
            <a:endCxn id="282" idx="1"/>
          </p:cNvCxnSpPr>
          <p:nvPr/>
        </p:nvCxnSpPr>
        <p:spPr bwMode="auto">
          <a:xfrm rot="16200000" flipH="1">
            <a:off x="2933620" y="2403869"/>
            <a:ext cx="213948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4" name="직사각형 283"/>
          <p:cNvSpPr/>
          <p:nvPr/>
        </p:nvSpPr>
        <p:spPr>
          <a:xfrm>
            <a:off x="3129625" y="2753937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개별상담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85" name="꺾인 연결선 284"/>
          <p:cNvCxnSpPr>
            <a:endCxn id="284" idx="1"/>
          </p:cNvCxnSpPr>
          <p:nvPr/>
        </p:nvCxnSpPr>
        <p:spPr bwMode="auto">
          <a:xfrm rot="16200000" flipH="1">
            <a:off x="2843366" y="2558043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6" name="직사각형 285"/>
          <p:cNvSpPr/>
          <p:nvPr/>
        </p:nvSpPr>
        <p:spPr>
          <a:xfrm>
            <a:off x="3129625" y="299836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개별상담 응급개입실적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87" name="꺾인 연결선 286"/>
          <p:cNvCxnSpPr>
            <a:endCxn id="286" idx="1"/>
          </p:cNvCxnSpPr>
          <p:nvPr/>
        </p:nvCxnSpPr>
        <p:spPr bwMode="auto">
          <a:xfrm rot="16200000" flipH="1">
            <a:off x="2848993" y="2808100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8" name="직사각형 287"/>
          <p:cNvSpPr/>
          <p:nvPr/>
        </p:nvSpPr>
        <p:spPr>
          <a:xfrm>
            <a:off x="3129625" y="3242793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개별상담 경과기록지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89" name="꺾인 연결선 288"/>
          <p:cNvCxnSpPr>
            <a:endCxn id="288" idx="1"/>
          </p:cNvCxnSpPr>
          <p:nvPr/>
        </p:nvCxnSpPr>
        <p:spPr bwMode="auto">
          <a:xfrm rot="16200000" flipH="1">
            <a:off x="2863020" y="3066555"/>
            <a:ext cx="355148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0" name="직사각형 289"/>
          <p:cNvSpPr/>
          <p:nvPr/>
        </p:nvSpPr>
        <p:spPr>
          <a:xfrm>
            <a:off x="3129625" y="3487222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6.7.5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자원조정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91" name="꺾인 연결선 290"/>
          <p:cNvCxnSpPr>
            <a:endCxn id="290" idx="1"/>
          </p:cNvCxnSpPr>
          <p:nvPr/>
        </p:nvCxnSpPr>
        <p:spPr bwMode="auto">
          <a:xfrm rot="16200000" flipH="1">
            <a:off x="2868646" y="3316609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2" name="직사각형 291"/>
          <p:cNvSpPr/>
          <p:nvPr/>
        </p:nvSpPr>
        <p:spPr>
          <a:xfrm>
            <a:off x="3129625" y="3728251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6.7.6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자원조정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93" name="꺾인 연결선 292"/>
          <p:cNvCxnSpPr>
            <a:endCxn id="292" idx="1"/>
          </p:cNvCxnSpPr>
          <p:nvPr/>
        </p:nvCxnSpPr>
        <p:spPr bwMode="auto">
          <a:xfrm rot="16200000" flipH="1">
            <a:off x="2899531" y="3588522"/>
            <a:ext cx="282127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4" name="직사각형 293"/>
          <p:cNvSpPr/>
          <p:nvPr/>
        </p:nvSpPr>
        <p:spPr>
          <a:xfrm>
            <a:off x="3129625" y="3972679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6.7.7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자원조정 응급개입실적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95" name="꺾인 연결선 294"/>
          <p:cNvCxnSpPr>
            <a:endCxn id="294" idx="1"/>
          </p:cNvCxnSpPr>
          <p:nvPr/>
        </p:nvCxnSpPr>
        <p:spPr bwMode="auto">
          <a:xfrm rot="16200000" flipH="1">
            <a:off x="2843366" y="3776786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6" name="직사각형 295"/>
          <p:cNvSpPr/>
          <p:nvPr/>
        </p:nvSpPr>
        <p:spPr>
          <a:xfrm>
            <a:off x="3129625" y="4217108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6.7.8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자원조정 경과기록지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97" name="꺾인 연결선 296"/>
          <p:cNvCxnSpPr>
            <a:endCxn id="296" idx="1"/>
          </p:cNvCxnSpPr>
          <p:nvPr/>
        </p:nvCxnSpPr>
        <p:spPr bwMode="auto">
          <a:xfrm rot="16200000" flipH="1">
            <a:off x="2848993" y="4026843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8" name="직사각형 297"/>
          <p:cNvSpPr/>
          <p:nvPr/>
        </p:nvSpPr>
        <p:spPr>
          <a:xfrm>
            <a:off x="3129625" y="4461536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그룹프로그램 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299" name="꺾인 연결선 298"/>
          <p:cNvCxnSpPr>
            <a:endCxn id="298" idx="1"/>
          </p:cNvCxnSpPr>
          <p:nvPr/>
        </p:nvCxnSpPr>
        <p:spPr bwMode="auto">
          <a:xfrm rot="16200000" flipH="1">
            <a:off x="2863020" y="4285298"/>
            <a:ext cx="355148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0" name="직사각형 299"/>
          <p:cNvSpPr/>
          <p:nvPr/>
        </p:nvSpPr>
        <p:spPr>
          <a:xfrm>
            <a:off x="3129625" y="4705964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6.7.10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그룹프로그램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01" name="꺾인 연결선 300"/>
          <p:cNvCxnSpPr>
            <a:endCxn id="300" idx="1"/>
          </p:cNvCxnSpPr>
          <p:nvPr/>
        </p:nvCxnSpPr>
        <p:spPr bwMode="auto">
          <a:xfrm rot="16200000" flipH="1">
            <a:off x="2868646" y="4535352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2" name="직사각형 301"/>
          <p:cNvSpPr/>
          <p:nvPr/>
        </p:nvSpPr>
        <p:spPr>
          <a:xfrm>
            <a:off x="3129625" y="4953986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6.7.11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그룹프로그램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경과기록지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3129625" y="5198414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6.7.12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그룹프로그램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일지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04" name="꺾인 연결선 303"/>
          <p:cNvCxnSpPr>
            <a:endCxn id="303" idx="1"/>
          </p:cNvCxnSpPr>
          <p:nvPr/>
        </p:nvCxnSpPr>
        <p:spPr bwMode="auto">
          <a:xfrm rot="16200000" flipH="1">
            <a:off x="2868646" y="5027802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5" name="꺾인 연결선 304"/>
          <p:cNvCxnSpPr>
            <a:endCxn id="302" idx="1"/>
          </p:cNvCxnSpPr>
          <p:nvPr/>
        </p:nvCxnSpPr>
        <p:spPr bwMode="auto">
          <a:xfrm rot="16200000" flipH="1">
            <a:off x="2798025" y="4712753"/>
            <a:ext cx="485140" cy="178060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6" name="직사각형 305"/>
          <p:cNvSpPr/>
          <p:nvPr/>
        </p:nvSpPr>
        <p:spPr>
          <a:xfrm>
            <a:off x="3129625" y="545409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6.7.13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전체경과기록지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307" name="직사각형 306"/>
          <p:cNvSpPr/>
          <p:nvPr/>
        </p:nvSpPr>
        <p:spPr>
          <a:xfrm>
            <a:off x="3129625" y="5698523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6.7.14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응급개입내역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08" name="꺾인 연결선 307"/>
          <p:cNvCxnSpPr>
            <a:endCxn id="307" idx="1"/>
          </p:cNvCxnSpPr>
          <p:nvPr/>
        </p:nvCxnSpPr>
        <p:spPr bwMode="auto">
          <a:xfrm rot="16200000" flipH="1">
            <a:off x="2848993" y="5508259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9" name="꺾인 연결선 308"/>
          <p:cNvCxnSpPr>
            <a:endCxn id="306" idx="1"/>
          </p:cNvCxnSpPr>
          <p:nvPr/>
        </p:nvCxnSpPr>
        <p:spPr bwMode="auto">
          <a:xfrm rot="16200000" flipH="1">
            <a:off x="2803651" y="5218488"/>
            <a:ext cx="473888" cy="178060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1" name="직사각형 310"/>
          <p:cNvSpPr/>
          <p:nvPr/>
        </p:nvSpPr>
        <p:spPr>
          <a:xfrm>
            <a:off x="5224041" y="2265080"/>
            <a:ext cx="2016320" cy="180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6.8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간접서비스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312" name="꺾인 연결선 311"/>
          <p:cNvCxnSpPr>
            <a:endCxn id="311" idx="1"/>
          </p:cNvCxnSpPr>
          <p:nvPr/>
        </p:nvCxnSpPr>
        <p:spPr bwMode="auto">
          <a:xfrm rot="16200000" flipH="1">
            <a:off x="5062220" y="2193625"/>
            <a:ext cx="161278" cy="1623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3" name="직사각형 312"/>
          <p:cNvSpPr/>
          <p:nvPr/>
        </p:nvSpPr>
        <p:spPr>
          <a:xfrm>
            <a:off x="5498875" y="2509509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교육내역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14" name="꺾인 연결선 313"/>
          <p:cNvCxnSpPr>
            <a:endCxn id="313" idx="1"/>
          </p:cNvCxnSpPr>
          <p:nvPr/>
        </p:nvCxnSpPr>
        <p:spPr bwMode="auto">
          <a:xfrm rot="16200000" flipH="1">
            <a:off x="5302869" y="2403869"/>
            <a:ext cx="213948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5" name="직사각형 314"/>
          <p:cNvSpPr/>
          <p:nvPr/>
        </p:nvSpPr>
        <p:spPr>
          <a:xfrm>
            <a:off x="5498875" y="2753937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교육실적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16" name="꺾인 연결선 315"/>
          <p:cNvCxnSpPr>
            <a:endCxn id="315" idx="1"/>
          </p:cNvCxnSpPr>
          <p:nvPr/>
        </p:nvCxnSpPr>
        <p:spPr bwMode="auto">
          <a:xfrm rot="16200000" flipH="1">
            <a:off x="5212615" y="2558044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7" name="직사각형 316"/>
          <p:cNvSpPr/>
          <p:nvPr/>
        </p:nvSpPr>
        <p:spPr>
          <a:xfrm>
            <a:off x="5498875" y="299836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홍보실적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-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견학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18" name="꺾인 연결선 317"/>
          <p:cNvCxnSpPr>
            <a:endCxn id="317" idx="1"/>
          </p:cNvCxnSpPr>
          <p:nvPr/>
        </p:nvCxnSpPr>
        <p:spPr bwMode="auto">
          <a:xfrm rot="16200000" flipH="1">
            <a:off x="5218243" y="2808101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9" name="직사각형 318"/>
          <p:cNvSpPr/>
          <p:nvPr/>
        </p:nvSpPr>
        <p:spPr>
          <a:xfrm>
            <a:off x="5498875" y="3242794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홍보실적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-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대중매체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20" name="꺾인 연결선 319"/>
          <p:cNvCxnSpPr>
            <a:endCxn id="319" idx="1"/>
          </p:cNvCxnSpPr>
          <p:nvPr/>
        </p:nvCxnSpPr>
        <p:spPr bwMode="auto">
          <a:xfrm rot="16200000" flipH="1">
            <a:off x="5232270" y="3066555"/>
            <a:ext cx="355148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1" name="직사각형 320"/>
          <p:cNvSpPr/>
          <p:nvPr/>
        </p:nvSpPr>
        <p:spPr>
          <a:xfrm>
            <a:off x="5498875" y="3487222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6.8.5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홍보실적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-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홍보물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22" name="꺾인 연결선 321"/>
          <p:cNvCxnSpPr>
            <a:endCxn id="321" idx="1"/>
          </p:cNvCxnSpPr>
          <p:nvPr/>
        </p:nvCxnSpPr>
        <p:spPr bwMode="auto">
          <a:xfrm rot="16200000" flipH="1">
            <a:off x="5237896" y="3316610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3" name="직사각형 322"/>
          <p:cNvSpPr/>
          <p:nvPr/>
        </p:nvSpPr>
        <p:spPr>
          <a:xfrm>
            <a:off x="5498875" y="3728251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6.8.6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홍보내역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24" name="꺾인 연결선 323"/>
          <p:cNvCxnSpPr>
            <a:endCxn id="323" idx="1"/>
          </p:cNvCxnSpPr>
          <p:nvPr/>
        </p:nvCxnSpPr>
        <p:spPr bwMode="auto">
          <a:xfrm rot="16200000" flipH="1">
            <a:off x="5268780" y="3588522"/>
            <a:ext cx="282127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5" name="직사각형 324"/>
          <p:cNvSpPr/>
          <p:nvPr/>
        </p:nvSpPr>
        <p:spPr>
          <a:xfrm>
            <a:off x="5498875" y="3972680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6.8.7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행사실적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26" name="꺾인 연결선 325"/>
          <p:cNvCxnSpPr>
            <a:endCxn id="325" idx="1"/>
          </p:cNvCxnSpPr>
          <p:nvPr/>
        </p:nvCxnSpPr>
        <p:spPr bwMode="auto">
          <a:xfrm rot="16200000" flipH="1">
            <a:off x="5212615" y="3776786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7" name="직사각형 326"/>
          <p:cNvSpPr/>
          <p:nvPr/>
        </p:nvSpPr>
        <p:spPr>
          <a:xfrm>
            <a:off x="5498875" y="4217108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6.8.8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행사내역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28" name="꺾인 연결선 327"/>
          <p:cNvCxnSpPr>
            <a:endCxn id="327" idx="1"/>
          </p:cNvCxnSpPr>
          <p:nvPr/>
        </p:nvCxnSpPr>
        <p:spPr bwMode="auto">
          <a:xfrm rot="16200000" flipH="1">
            <a:off x="5218243" y="4026844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9" name="직사각형 328"/>
          <p:cNvSpPr/>
          <p:nvPr/>
        </p:nvSpPr>
        <p:spPr>
          <a:xfrm>
            <a:off x="5498875" y="4461536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6.8.9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캠페인내역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30" name="꺾인 연결선 329"/>
          <p:cNvCxnSpPr>
            <a:endCxn id="329" idx="1"/>
          </p:cNvCxnSpPr>
          <p:nvPr/>
        </p:nvCxnSpPr>
        <p:spPr bwMode="auto">
          <a:xfrm rot="16200000" flipH="1">
            <a:off x="5232270" y="4285298"/>
            <a:ext cx="355148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1" name="직사각형 330"/>
          <p:cNvSpPr/>
          <p:nvPr/>
        </p:nvSpPr>
        <p:spPr>
          <a:xfrm>
            <a:off x="5498875" y="470596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6.8.10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자원관리실적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32" name="꺾인 연결선 331"/>
          <p:cNvCxnSpPr>
            <a:endCxn id="331" idx="1"/>
          </p:cNvCxnSpPr>
          <p:nvPr/>
        </p:nvCxnSpPr>
        <p:spPr bwMode="auto">
          <a:xfrm rot="16200000" flipH="1">
            <a:off x="5237896" y="4535353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3" name="직사각형 332"/>
          <p:cNvSpPr/>
          <p:nvPr/>
        </p:nvSpPr>
        <p:spPr>
          <a:xfrm>
            <a:off x="5498875" y="4953986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6.8.11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자원관리내역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334" name="직사각형 333"/>
          <p:cNvSpPr/>
          <p:nvPr/>
        </p:nvSpPr>
        <p:spPr>
          <a:xfrm>
            <a:off x="5498875" y="519841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6.8.12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조사</a:t>
            </a: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;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연구내역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35" name="꺾인 연결선 334"/>
          <p:cNvCxnSpPr>
            <a:endCxn id="334" idx="1"/>
          </p:cNvCxnSpPr>
          <p:nvPr/>
        </p:nvCxnSpPr>
        <p:spPr bwMode="auto">
          <a:xfrm rot="16200000" flipH="1">
            <a:off x="5237896" y="5027803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6" name="꺾인 연결선 335"/>
          <p:cNvCxnSpPr>
            <a:endCxn id="333" idx="1"/>
          </p:cNvCxnSpPr>
          <p:nvPr/>
        </p:nvCxnSpPr>
        <p:spPr bwMode="auto">
          <a:xfrm rot="16200000" flipH="1">
            <a:off x="5167275" y="4712753"/>
            <a:ext cx="485140" cy="178060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7" name="직사각형 336"/>
          <p:cNvSpPr/>
          <p:nvPr/>
        </p:nvSpPr>
        <p:spPr>
          <a:xfrm>
            <a:off x="5498875" y="545409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6.8.13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세미나내역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38" name="꺾인 연결선 337"/>
          <p:cNvCxnSpPr>
            <a:endCxn id="337" idx="1"/>
          </p:cNvCxnSpPr>
          <p:nvPr/>
        </p:nvCxnSpPr>
        <p:spPr bwMode="auto">
          <a:xfrm rot="16200000" flipH="1">
            <a:off x="5172901" y="5218488"/>
            <a:ext cx="473888" cy="178060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0" name="직사각형 339"/>
          <p:cNvSpPr/>
          <p:nvPr/>
        </p:nvSpPr>
        <p:spPr>
          <a:xfrm>
            <a:off x="7532696" y="2265080"/>
            <a:ext cx="2016320" cy="180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6.9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유틸리티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341" name="꺾인 연결선 340"/>
          <p:cNvCxnSpPr>
            <a:endCxn id="340" idx="1"/>
          </p:cNvCxnSpPr>
          <p:nvPr/>
        </p:nvCxnSpPr>
        <p:spPr bwMode="auto">
          <a:xfrm rot="16200000" flipH="1">
            <a:off x="7382099" y="2204849"/>
            <a:ext cx="161277" cy="139917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2" name="직사각형 341"/>
          <p:cNvSpPr/>
          <p:nvPr/>
        </p:nvSpPr>
        <p:spPr>
          <a:xfrm>
            <a:off x="7807530" y="2509508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6.8.1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회의록실적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43" name="꺾인 연결선 342"/>
          <p:cNvCxnSpPr>
            <a:endCxn id="342" idx="1"/>
          </p:cNvCxnSpPr>
          <p:nvPr/>
        </p:nvCxnSpPr>
        <p:spPr bwMode="auto">
          <a:xfrm rot="16200000" flipH="1">
            <a:off x="7611524" y="2403869"/>
            <a:ext cx="213948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4" name="직사각형 343"/>
          <p:cNvSpPr/>
          <p:nvPr/>
        </p:nvSpPr>
        <p:spPr>
          <a:xfrm>
            <a:off x="7807530" y="2753936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6.9.2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회의록내역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45" name="꺾인 연결선 344"/>
          <p:cNvCxnSpPr>
            <a:endCxn id="344" idx="1"/>
          </p:cNvCxnSpPr>
          <p:nvPr/>
        </p:nvCxnSpPr>
        <p:spPr bwMode="auto">
          <a:xfrm rot="16200000" flipH="1">
            <a:off x="7521270" y="2558043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6" name="직사각형 345"/>
          <p:cNvSpPr/>
          <p:nvPr/>
        </p:nvSpPr>
        <p:spPr>
          <a:xfrm>
            <a:off x="7807530" y="299836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6.9.3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회의록출력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47" name="꺾인 연결선 346"/>
          <p:cNvCxnSpPr>
            <a:endCxn id="346" idx="1"/>
          </p:cNvCxnSpPr>
          <p:nvPr/>
        </p:nvCxnSpPr>
        <p:spPr bwMode="auto">
          <a:xfrm rot="16200000" flipH="1">
            <a:off x="7526898" y="2808100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8" name="직사각형 347"/>
          <p:cNvSpPr/>
          <p:nvPr/>
        </p:nvSpPr>
        <p:spPr>
          <a:xfrm>
            <a:off x="7807530" y="3242793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6.9.4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공지사항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49" name="꺾인 연결선 348"/>
          <p:cNvCxnSpPr>
            <a:endCxn id="348" idx="1"/>
          </p:cNvCxnSpPr>
          <p:nvPr/>
        </p:nvCxnSpPr>
        <p:spPr bwMode="auto">
          <a:xfrm rot="16200000" flipH="1">
            <a:off x="7540925" y="3066555"/>
            <a:ext cx="355148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0" name="직사각형 349"/>
          <p:cNvSpPr/>
          <p:nvPr/>
        </p:nvSpPr>
        <p:spPr>
          <a:xfrm>
            <a:off x="7807530" y="3487221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6.9.5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출장내역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51" name="꺾인 연결선 350"/>
          <p:cNvCxnSpPr>
            <a:endCxn id="350" idx="1"/>
          </p:cNvCxnSpPr>
          <p:nvPr/>
        </p:nvCxnSpPr>
        <p:spPr bwMode="auto">
          <a:xfrm rot="16200000" flipH="1">
            <a:off x="7546551" y="3316609"/>
            <a:ext cx="343896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2" name="직사각형 351"/>
          <p:cNvSpPr/>
          <p:nvPr/>
        </p:nvSpPr>
        <p:spPr>
          <a:xfrm>
            <a:off x="7807530" y="3728251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6.9.6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인적자원 등록카드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53" name="꺾인 연결선 352"/>
          <p:cNvCxnSpPr>
            <a:endCxn id="352" idx="1"/>
          </p:cNvCxnSpPr>
          <p:nvPr/>
        </p:nvCxnSpPr>
        <p:spPr bwMode="auto">
          <a:xfrm rot="16200000" flipH="1">
            <a:off x="7577434" y="3588522"/>
            <a:ext cx="282127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4" name="직사각형 353"/>
          <p:cNvSpPr/>
          <p:nvPr/>
        </p:nvSpPr>
        <p:spPr>
          <a:xfrm>
            <a:off x="7807530" y="3972679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6.9.7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근무일수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55" name="꺾인 연결선 354"/>
          <p:cNvCxnSpPr>
            <a:endCxn id="354" idx="1"/>
          </p:cNvCxnSpPr>
          <p:nvPr/>
        </p:nvCxnSpPr>
        <p:spPr bwMode="auto">
          <a:xfrm rot="16200000" flipH="1">
            <a:off x="7521270" y="3776786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6" name="직사각형 355"/>
          <p:cNvSpPr/>
          <p:nvPr/>
        </p:nvSpPr>
        <p:spPr>
          <a:xfrm>
            <a:off x="7807530" y="4217107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6.9.8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근무일지 내역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57" name="꺾인 연결선 356"/>
          <p:cNvCxnSpPr>
            <a:endCxn id="356" idx="1"/>
          </p:cNvCxnSpPr>
          <p:nvPr/>
        </p:nvCxnSpPr>
        <p:spPr bwMode="auto">
          <a:xfrm rot="16200000" flipH="1">
            <a:off x="7526898" y="4026843"/>
            <a:ext cx="383201" cy="178062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8" name="직사각형 357"/>
          <p:cNvSpPr/>
          <p:nvPr/>
        </p:nvSpPr>
        <p:spPr>
          <a:xfrm>
            <a:off x="7532696" y="4453877"/>
            <a:ext cx="2016320" cy="180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6.10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업무실적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359" name="꺾인 연결선 358"/>
          <p:cNvCxnSpPr>
            <a:endCxn id="358" idx="1"/>
          </p:cNvCxnSpPr>
          <p:nvPr/>
        </p:nvCxnSpPr>
        <p:spPr bwMode="auto">
          <a:xfrm rot="16200000" flipH="1">
            <a:off x="6287700" y="3299248"/>
            <a:ext cx="2350075" cy="139917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0" name="직사각형 359"/>
          <p:cNvSpPr/>
          <p:nvPr/>
        </p:nvSpPr>
        <p:spPr>
          <a:xfrm>
            <a:off x="7807530" y="4698305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6.10.1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정신보건센터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61" name="꺾인 연결선 360"/>
          <p:cNvCxnSpPr>
            <a:endCxn id="360" idx="1"/>
          </p:cNvCxnSpPr>
          <p:nvPr/>
        </p:nvCxnSpPr>
        <p:spPr bwMode="auto">
          <a:xfrm rot="16200000" flipH="1">
            <a:off x="7611524" y="4592666"/>
            <a:ext cx="213948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2" name="직사각형 361"/>
          <p:cNvSpPr/>
          <p:nvPr/>
        </p:nvSpPr>
        <p:spPr>
          <a:xfrm>
            <a:off x="7807530" y="4942733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6.10.2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중독관리센터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63" name="꺾인 연결선 362"/>
          <p:cNvCxnSpPr>
            <a:endCxn id="362" idx="1"/>
          </p:cNvCxnSpPr>
          <p:nvPr/>
        </p:nvCxnSpPr>
        <p:spPr bwMode="auto">
          <a:xfrm rot="16200000" flipH="1">
            <a:off x="7521270" y="4746840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4" name="직사각형 363"/>
          <p:cNvSpPr/>
          <p:nvPr/>
        </p:nvSpPr>
        <p:spPr>
          <a:xfrm>
            <a:off x="7532696" y="5198414"/>
            <a:ext cx="2016320" cy="1807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1000" spc="-100" dirty="0">
                <a:solidFill>
                  <a:prstClr val="white"/>
                </a:solidFill>
                <a:latin typeface="맑은 고딕"/>
              </a:rPr>
              <a:t>6.11 </a:t>
            </a:r>
            <a:r>
              <a:rPr kumimoji="1" lang="ko-KR" altLang="en-US" sz="1000" spc="-100" dirty="0">
                <a:solidFill>
                  <a:prstClr val="white"/>
                </a:solidFill>
                <a:latin typeface="맑은 고딕"/>
              </a:rPr>
              <a:t>업무지표</a:t>
            </a:r>
            <a:endParaRPr kumimoji="1" lang="ko-KR" altLang="en-US" sz="1000" spc="-100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365" name="꺾인 연결선 364"/>
          <p:cNvCxnSpPr>
            <a:endCxn id="364" idx="1"/>
          </p:cNvCxnSpPr>
          <p:nvPr/>
        </p:nvCxnSpPr>
        <p:spPr bwMode="auto">
          <a:xfrm rot="16200000" flipH="1">
            <a:off x="6287700" y="4043785"/>
            <a:ext cx="2350075" cy="139917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6" name="직사각형 365"/>
          <p:cNvSpPr/>
          <p:nvPr/>
        </p:nvSpPr>
        <p:spPr>
          <a:xfrm>
            <a:off x="7807530" y="5442842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6.11.1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중증정신질환자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등록관리율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67" name="꺾인 연결선 366"/>
          <p:cNvCxnSpPr>
            <a:endCxn id="366" idx="1"/>
          </p:cNvCxnSpPr>
          <p:nvPr/>
        </p:nvCxnSpPr>
        <p:spPr bwMode="auto">
          <a:xfrm rot="16200000" flipH="1">
            <a:off x="7611524" y="5337203"/>
            <a:ext cx="213948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8" name="직사각형 367"/>
          <p:cNvSpPr/>
          <p:nvPr/>
        </p:nvSpPr>
        <p:spPr>
          <a:xfrm>
            <a:off x="7807530" y="5687271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6.11.2 </a:t>
            </a:r>
            <a:r>
              <a:rPr kumimoji="1" lang="ko-KR" altLang="en-US" sz="900" spc="-100" dirty="0" err="1">
                <a:solidFill>
                  <a:prstClr val="black"/>
                </a:solidFill>
                <a:latin typeface="맑은 고딕"/>
              </a:rPr>
              <a:t>중증정신질환자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 관리 사업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69" name="꺾인 연결선 368"/>
          <p:cNvCxnSpPr>
            <a:endCxn id="368" idx="1"/>
          </p:cNvCxnSpPr>
          <p:nvPr/>
        </p:nvCxnSpPr>
        <p:spPr bwMode="auto">
          <a:xfrm rot="16200000" flipH="1">
            <a:off x="7521270" y="5491377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0" name="직사각형 369"/>
          <p:cNvSpPr/>
          <p:nvPr/>
        </p:nvSpPr>
        <p:spPr>
          <a:xfrm>
            <a:off x="7807530" y="5912562"/>
            <a:ext cx="1741485" cy="1807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fontAlgn="base" latinLnBrk="0">
              <a:spcAft>
                <a:spcPct val="0"/>
              </a:spcAft>
              <a:buSzPct val="120000"/>
              <a:buFont typeface="Wingdings" pitchFamily="2" charset="2"/>
              <a:buNone/>
            </a:pPr>
            <a:r>
              <a:rPr kumimoji="1" lang="en-US" altLang="ko-KR" sz="900" spc="-100" dirty="0">
                <a:solidFill>
                  <a:prstClr val="black"/>
                </a:solidFill>
                <a:latin typeface="맑은 고딕"/>
              </a:rPr>
              <a:t>6.11.3 </a:t>
            </a:r>
            <a:r>
              <a:rPr kumimoji="1" lang="ko-KR" altLang="en-US" sz="900" spc="-100" dirty="0">
                <a:solidFill>
                  <a:prstClr val="black"/>
                </a:solidFill>
                <a:latin typeface="맑은 고딕"/>
              </a:rPr>
              <a:t>중독관리 사업</a:t>
            </a:r>
            <a:endParaRPr kumimoji="1" lang="ko-KR" altLang="en-US" sz="900" spc="-10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371" name="꺾인 연결선 370"/>
          <p:cNvCxnSpPr>
            <a:endCxn id="370" idx="1"/>
          </p:cNvCxnSpPr>
          <p:nvPr/>
        </p:nvCxnSpPr>
        <p:spPr bwMode="auto">
          <a:xfrm rot="16200000" flipH="1">
            <a:off x="7521270" y="5716669"/>
            <a:ext cx="394456" cy="178063"/>
          </a:xfrm>
          <a:prstGeom prst="bentConnector2">
            <a:avLst/>
          </a:prstGeom>
          <a:solidFill>
            <a:srgbClr val="99CCFF"/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7709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/>
              <a:t>sMHIS</a:t>
            </a:r>
            <a:r>
              <a:rPr lang="en-US" altLang="ko-KR" dirty="0"/>
              <a:t>(M</a:t>
            </a:r>
            <a:r>
              <a:rPr lang="fr-CM" altLang="ko-KR" dirty="0"/>
              <a:t>ental</a:t>
            </a:r>
            <a:r>
              <a:rPr lang="ko-KR" altLang="en-US" dirty="0"/>
              <a:t> </a:t>
            </a:r>
            <a:r>
              <a:rPr lang="en-US" altLang="ko-KR" dirty="0"/>
              <a:t>Health Information System) </a:t>
            </a:r>
            <a:r>
              <a:rPr lang="ko-KR" altLang="en-US" dirty="0"/>
              <a:t>분석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sMHIS</a:t>
            </a:r>
            <a:r>
              <a:rPr lang="ko-KR" altLang="en-US" dirty="0"/>
              <a:t> 시스템을 구성하고 있는 데이터 모델 및 내용을 분석합니다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sMHIS </a:t>
            </a:r>
            <a:r>
              <a:rPr lang="ko-KR" altLang="en-US" dirty="0" smtClean="0"/>
              <a:t>데이터 구조도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 bwMode="auto">
          <a:xfrm>
            <a:off x="6681192" y="5877272"/>
            <a:ext cx="2808312" cy="28803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fontAlgn="base" latinLnBrk="0">
              <a:lnSpc>
                <a:spcPct val="130000"/>
              </a:lnSpc>
              <a:buSzPct val="120000"/>
              <a:buFont typeface="Wingdings" pitchFamily="2" charset="2"/>
              <a:buNone/>
            </a:pPr>
            <a:r>
              <a:rPr kumimoji="1" lang="ko-KR" altLang="en-US" sz="1200" b="1" kern="0" spc="-60" dirty="0">
                <a:solidFill>
                  <a:prstClr val="white"/>
                </a:solidFill>
                <a:latin typeface="맑은 고딕" pitchFamily="50" charset="-127"/>
              </a:rPr>
              <a:t>총 </a:t>
            </a:r>
            <a:r>
              <a:rPr kumimoji="1" lang="en-US" altLang="ko-KR" sz="1200" b="1" kern="0" spc="-60" dirty="0">
                <a:solidFill>
                  <a:prstClr val="white"/>
                </a:solidFill>
                <a:latin typeface="맑은 고딕" pitchFamily="50" charset="-127"/>
              </a:rPr>
              <a:t>64</a:t>
            </a:r>
            <a:r>
              <a:rPr kumimoji="1" lang="ko-KR" altLang="en-US" sz="1200" b="1" kern="0" spc="-60" dirty="0">
                <a:solidFill>
                  <a:prstClr val="white"/>
                </a:solidFill>
                <a:latin typeface="맑은 고딕" pitchFamily="50" charset="-127"/>
              </a:rPr>
              <a:t>개의 테이블로 구성되어있음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398566" y="1975442"/>
          <a:ext cx="2952328" cy="4117851"/>
        </p:xfrm>
        <a:graphic>
          <a:graphicData uri="http://schemas.openxmlformats.org/drawingml/2006/table">
            <a:tbl>
              <a:tblPr/>
              <a:tblGrid>
                <a:gridCol w="487277"/>
                <a:gridCol w="2465051"/>
              </a:tblGrid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 그룹프로그램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 그룹프로그램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회기별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 코드 상세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 코드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약품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진단 코드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행사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첨부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휴일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인적자원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간접서비스 상세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간접서비스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간접서비스 홍보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간접서비스 홍보 인쇄물 상세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조정 그룹 프로그램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조정 개별 상담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조정 자원조정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치료 약물 상세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치료 약물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치료력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진단력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병력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3569568" y="1975443"/>
          <a:ext cx="2895600" cy="4117851"/>
        </p:xfrm>
        <a:graphic>
          <a:graphicData uri="http://schemas.openxmlformats.org/drawingml/2006/table">
            <a:tbl>
              <a:tblPr/>
              <a:tblGrid>
                <a:gridCol w="477915"/>
                <a:gridCol w="2417685"/>
              </a:tblGrid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한글명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가족력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가족 고인 정보 상세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발달력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입원력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병력 청취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평가 상세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평가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ISP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사정 평가 상세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ISP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사정 코드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ISP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사정 상세 코드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ISP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사정 개입 상세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ISP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사정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직업력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연계 내역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정신 건강 상태 평가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신체 질환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중독 문제 내역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등퇴록 기본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단중독  내역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자살 시도력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서비스 이용 내역</a:t>
                      </a:r>
                    </a:p>
                  </a:txBody>
                  <a:tcPr marL="6524" marR="6524" marT="6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6681192" y="1975443"/>
          <a:ext cx="2808312" cy="3757803"/>
        </p:xfrm>
        <a:graphic>
          <a:graphicData uri="http://schemas.openxmlformats.org/drawingml/2006/table">
            <a:tbl>
              <a:tblPr/>
              <a:tblGrid>
                <a:gridCol w="463507"/>
                <a:gridCol w="2344805"/>
              </a:tblGrid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한글명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기관자원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우편번호 변경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우편번호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 메뉴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 상담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 상담 등록전 사정평가 상세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로그인 상세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 회계 예산 내역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 회계 세목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 회계 수입 지출 내역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 출장 내역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 회의록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 공지 상세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 공지 기본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 직원 근무 일지</a:t>
                      </a:r>
                    </a:p>
                  </a:txBody>
                  <a:tcPr marL="7145" marR="7145" marT="7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1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sMHIS </a:t>
            </a:r>
            <a:r>
              <a:rPr lang="ko-KR" altLang="en-US" dirty="0" smtClean="0"/>
              <a:t>데이터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구조도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접수상담 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sMHIS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구조도 </a:t>
            </a:r>
            <a:r>
              <a:rPr lang="en-US" altLang="ko-KR" dirty="0"/>
              <a:t>- </a:t>
            </a:r>
            <a:r>
              <a:rPr lang="ko-KR" altLang="en-US" dirty="0" smtClean="0"/>
              <a:t>의뢰접수 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sMHIS</a:t>
            </a:r>
            <a:r>
              <a:rPr lang="ko-KR" altLang="en-US" dirty="0"/>
              <a:t> 시스템을 구성하고 있는 데이터 모델 및 내용을 분석합니다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460" y="1916446"/>
            <a:ext cx="4536505" cy="428233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29" y="1828252"/>
            <a:ext cx="4456925" cy="436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sMHIS </a:t>
            </a:r>
            <a:r>
              <a:rPr lang="ko-KR" altLang="en-US" dirty="0" smtClean="0"/>
              <a:t>데이터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구조도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등퇴록관리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sMHIS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구조도 </a:t>
            </a:r>
            <a:r>
              <a:rPr lang="en-US" altLang="ko-KR" dirty="0"/>
              <a:t>- </a:t>
            </a:r>
            <a:r>
              <a:rPr lang="ko-KR" altLang="en-US" dirty="0" smtClean="0"/>
              <a:t>사정평가 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sMHIS</a:t>
            </a:r>
            <a:r>
              <a:rPr lang="ko-KR" altLang="en-US" dirty="0"/>
              <a:t> 시스템을 구성하고 있는 데이터 모델 및 내용을 분석합니다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1916832"/>
            <a:ext cx="4333538" cy="428190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466" y="1887115"/>
            <a:ext cx="4520494" cy="431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3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sMHIS </a:t>
            </a:r>
            <a:r>
              <a:rPr lang="ko-KR" altLang="en-US" dirty="0" smtClean="0"/>
              <a:t>데이터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구조도 </a:t>
            </a:r>
            <a:r>
              <a:rPr lang="en-US" altLang="ko-KR" dirty="0" smtClean="0"/>
              <a:t>- ISP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sMHIS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구조도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평가도구 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sMHIS</a:t>
            </a:r>
            <a:r>
              <a:rPr lang="ko-KR" altLang="en-US" dirty="0"/>
              <a:t> 시스템을 구성하고 있는 데이터 모델 및 내용을 분석합니다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70" y="2011164"/>
            <a:ext cx="4321756" cy="415413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752" y="2011164"/>
            <a:ext cx="4338762" cy="415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sMHIS </a:t>
            </a:r>
            <a:r>
              <a:rPr lang="ko-KR" altLang="en-US" dirty="0" smtClean="0"/>
              <a:t>데이터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구조도 </a:t>
            </a:r>
            <a:r>
              <a:rPr lang="en-US" altLang="ko-KR" dirty="0" smtClean="0"/>
              <a:t>- Intervention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sMHIS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구조도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간접서비스 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sMHIS</a:t>
            </a:r>
            <a:r>
              <a:rPr lang="ko-KR" altLang="en-US" dirty="0"/>
              <a:t> 시스템을 구성하고 있는 데이터 모델 및 내용을 분석합니다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971" y="1916834"/>
            <a:ext cx="4363542" cy="424847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916833"/>
            <a:ext cx="4392488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7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6.2 </a:t>
            </a:r>
            <a:r>
              <a:rPr lang="en-US" altLang="ko-KR" dirty="0" err="1" smtClean="0"/>
              <a:t>sMHIS</a:t>
            </a:r>
            <a:r>
              <a:rPr lang="en-US" altLang="ko-KR" dirty="0" smtClean="0"/>
              <a:t>(M</a:t>
            </a:r>
            <a:r>
              <a:rPr lang="fr-CM" altLang="ko-KR" dirty="0" smtClean="0"/>
              <a:t>ental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Health Information System)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77800" indent="-177800">
              <a:lnSpc>
                <a:spcPct val="120000"/>
              </a:lnSpc>
              <a:buFont typeface="+mj-lt"/>
              <a:buAutoNum type="romanUcPeriod" startAt="2"/>
            </a:pPr>
            <a:r>
              <a:rPr lang="ko-KR" altLang="en-US" dirty="0" smtClean="0"/>
              <a:t>현황분석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6. </a:t>
            </a:r>
            <a:r>
              <a:rPr lang="ko-KR" altLang="en-US" dirty="0" smtClean="0"/>
              <a:t>정보시스템 분석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sMHIS </a:t>
            </a:r>
            <a:r>
              <a:rPr lang="ko-KR" altLang="en-US" dirty="0" smtClean="0"/>
              <a:t>데이터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구조도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sMHIS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구조도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유틸리티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sMHIS</a:t>
            </a:r>
            <a:r>
              <a:rPr lang="ko-KR" altLang="en-US" dirty="0"/>
              <a:t> 시스템을 구성하고 있는 데이터 모델 및 내용을 분석합니다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6" y="1986062"/>
            <a:ext cx="4464497" cy="417924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43" y="1830056"/>
            <a:ext cx="4533397" cy="429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ArchitectedSolutions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한영 혼용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algn="ctr">
          <a:solidFill>
            <a:srgbClr val="808080"/>
          </a:solidFill>
          <a:round/>
          <a:headEnd/>
          <a:tailEnd/>
        </a:ln>
        <a:effectLst/>
      </a:spPr>
      <a:bodyPr wrap="none" rtlCol="0" anchor="ctr"/>
      <a:lstStyle>
        <a:defPPr algn="ctr" latinLnBrk="0">
          <a:lnSpc>
            <a:spcPct val="130000"/>
          </a:lnSpc>
          <a:spcBef>
            <a:spcPts val="0"/>
          </a:spcBef>
          <a:spcAft>
            <a:spcPts val="0"/>
          </a:spcAft>
          <a:buNone/>
          <a:defRPr sz="1200" kern="0" spc="-60" dirty="0" smtClean="0"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Pct val="120000"/>
          <a:buFont typeface="Wingdings" pitchFamily="2" charset="2"/>
          <a:buNone/>
          <a:tabLst/>
          <a:defRPr kumimoji="1" lang="ko-KR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가는각진제목체" pitchFamily="18" charset="-127"/>
            <a:ea typeface="가는각진제목체" pitchFamily="18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buNone/>
          <a:defRPr sz="1050" dirty="0" err="1" smtClean="0">
            <a:latin typeface="+mn-lt"/>
            <a:ea typeface="+mn-ea"/>
            <a:cs typeface="Arial" panose="020B0604020202020204" pitchFamily="34" charset="0"/>
          </a:defRPr>
        </a:defPPr>
      </a:lstStyle>
    </a:txDef>
  </a:objectDefaults>
  <a:extraClrSchemeLst>
    <a:extraClrScheme>
      <a:clrScheme name="1_ArchitectedSolutionsTemplate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rchitectedSolutionsTemplate 2">
        <a:dk1>
          <a:srgbClr val="000000"/>
        </a:dk1>
        <a:lt1>
          <a:srgbClr val="FFFFFF"/>
        </a:lt1>
        <a:dk2>
          <a:srgbClr val="000000"/>
        </a:dk2>
        <a:lt2>
          <a:srgbClr val="FF6600"/>
        </a:lt2>
        <a:accent1>
          <a:srgbClr val="009999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A8A2D"/>
        </a:accent6>
        <a:hlink>
          <a:srgbClr val="996699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rchitectedSolutionsTemplate 3">
        <a:dk1>
          <a:srgbClr val="003366"/>
        </a:dk1>
        <a:lt1>
          <a:srgbClr val="FFFFFF"/>
        </a:lt1>
        <a:dk2>
          <a:srgbClr val="000000"/>
        </a:dk2>
        <a:lt2>
          <a:srgbClr val="FFFFFF"/>
        </a:lt2>
        <a:accent1>
          <a:srgbClr val="009999"/>
        </a:accent1>
        <a:accent2>
          <a:srgbClr val="999933"/>
        </a:accent2>
        <a:accent3>
          <a:srgbClr val="AAAAAA"/>
        </a:accent3>
        <a:accent4>
          <a:srgbClr val="DADADA"/>
        </a:accent4>
        <a:accent5>
          <a:srgbClr val="AACACA"/>
        </a:accent5>
        <a:accent6>
          <a:srgbClr val="8A8A2D"/>
        </a:accent6>
        <a:hlink>
          <a:srgbClr val="996699"/>
        </a:hlink>
        <a:folHlink>
          <a:srgbClr val="66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rchitectedSolutionsTemplate 4">
        <a:dk1>
          <a:srgbClr val="000000"/>
        </a:dk1>
        <a:lt1>
          <a:srgbClr val="FFFFFF"/>
        </a:lt1>
        <a:dk2>
          <a:srgbClr val="000000"/>
        </a:dk2>
        <a:lt2>
          <a:srgbClr val="009999"/>
        </a:lt2>
        <a:accent1>
          <a:srgbClr val="FFCC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8AB900"/>
        </a:accent6>
        <a:hlink>
          <a:srgbClr val="00CCFF"/>
        </a:hlink>
        <a:folHlink>
          <a:srgbClr val="FF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rchitectedSolutionsTemplate 5">
        <a:dk1>
          <a:srgbClr val="009999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99CC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8AB900"/>
        </a:accent6>
        <a:hlink>
          <a:srgbClr val="00CCFF"/>
        </a:hlink>
        <a:folHlink>
          <a:srgbClr val="FF00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프레젠테이션1" id="{5E059D4A-5B37-4D47-ADD4-080D997260CE}" vid="{79DBD821-47D7-4ED7-BADC-1D972DD96D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1228</Words>
  <Application>Microsoft Office PowerPoint</Application>
  <PresentationFormat>A4 용지(210x297mm)</PresentationFormat>
  <Paragraphs>389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HY헤드라인M</vt:lpstr>
      <vt:lpstr>굴림</vt:lpstr>
      <vt:lpstr>돋움</vt:lpstr>
      <vt:lpstr>맑은 고딕</vt:lpstr>
      <vt:lpstr>Arial</vt:lpstr>
      <vt:lpstr>Wingdings</vt:lpstr>
      <vt:lpstr>3_ArchitectedSolutionsTemplate</vt:lpstr>
      <vt:lpstr>6.2 sMHIS(Mental Health Information System) 분석   </vt:lpstr>
      <vt:lpstr>6.2 sMHIS(Mental Health Information System) 분석   </vt:lpstr>
      <vt:lpstr>6.2 sMHIS(Mental Health Information System) 분석   </vt:lpstr>
      <vt:lpstr>6.2 sMHIS(Mental Health Information System) 분석   </vt:lpstr>
      <vt:lpstr>6.2 sMHIS(Mental Health Information System) 분석 </vt:lpstr>
      <vt:lpstr>6.2 sMHIS(Mental Health Information System) 분석   </vt:lpstr>
      <vt:lpstr>6.2 sMHIS(Mental Health Information System) 분석   </vt:lpstr>
      <vt:lpstr>6.2 sMHIS(Mental Health Information System) 분석   </vt:lpstr>
      <vt:lpstr>6.2 sMHIS(Mental Health Information System) 분석   </vt:lpstr>
      <vt:lpstr>6.2 sMHIS(Mental Health Information System) 분석 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6.2 sMHIS(Mental Health Information System) 분석   </dc:title>
  <dc:creator>Microsoft 계정</dc:creator>
  <cp:lastModifiedBy>Microsoft 계정</cp:lastModifiedBy>
  <cp:revision>1</cp:revision>
  <dcterms:created xsi:type="dcterms:W3CDTF">2026-03-04T05:14:15Z</dcterms:created>
  <dcterms:modified xsi:type="dcterms:W3CDTF">2026-03-04T05:15:52Z</dcterms:modified>
</cp:coreProperties>
</file>